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27a56e3db6431a" /><Relationship Type="http://schemas.openxmlformats.org/officeDocument/2006/relationships/extended-properties" Target="/docProps/app.xml" Id="Rf4a056ec3a7d440f" /><Relationship Type="http://schemas.openxmlformats.org/officeDocument/2006/relationships/officeDocument" Target="/ppt/presentation.xml" Id="R24178c70b899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e2520840c4271"/>
  </p:sldMasterIdLst>
  <p:notesMasterIdLst>
    <p:notesMasterId xmlns:r="http://schemas.openxmlformats.org/officeDocument/2006/relationships" r:id="R432184edc51d48ad"/>
  </p:notesMasterIdLst>
  <p:sldIdLst>
    <p:sldId xmlns:r="http://schemas.openxmlformats.org/officeDocument/2006/relationships" id="256" r:id="R1acf4214b17f4277"/>
    <p:sldId xmlns:r="http://schemas.openxmlformats.org/officeDocument/2006/relationships" id="257" r:id="Rb446a005b4f3414a"/>
    <p:sldId xmlns:r="http://schemas.openxmlformats.org/officeDocument/2006/relationships" id="258" r:id="Rd37773b54e1d4764"/>
    <p:sldId xmlns:r="http://schemas.openxmlformats.org/officeDocument/2006/relationships" id="259" r:id="R3cc5ebe3db7f409e"/>
    <p:sldId xmlns:r="http://schemas.openxmlformats.org/officeDocument/2006/relationships" id="260" r:id="R1899fff8faeb4772"/>
    <p:sldId xmlns:r="http://schemas.openxmlformats.org/officeDocument/2006/relationships" id="261" r:id="R44b6729a9fd24e74"/>
    <p:sldId xmlns:r="http://schemas.openxmlformats.org/officeDocument/2006/relationships" id="262" r:id="Rf9c8835bef6a48f9"/>
    <p:sldId xmlns:r="http://schemas.openxmlformats.org/officeDocument/2006/relationships" id="263" r:id="R8e5c36672f4e4770"/>
    <p:sldId xmlns:r="http://schemas.openxmlformats.org/officeDocument/2006/relationships" id="264" r:id="R2833f7ed8e0f4b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18286e11bd49b7" /><Relationship Type="http://schemas.openxmlformats.org/officeDocument/2006/relationships/slideMaster" Target="/ppt/slideMasters/slideMaster1.xml" Id="R7ade2520840c4271" /><Relationship Type="http://schemas.openxmlformats.org/officeDocument/2006/relationships/notesMaster" Target="/ppt/notesMasters/notesMaster1.xml" Id="R432184edc51d48ad" /><Relationship Type="http://schemas.openxmlformats.org/officeDocument/2006/relationships/presProps" Target="/ppt/presProps.xml" Id="R4c9ee64900e34a9a" /><Relationship Type="http://schemas.openxmlformats.org/officeDocument/2006/relationships/tableStyles" Target="/ppt/tableStyles.xml" Id="Rc903a580ba3b4acd" /><Relationship Type="http://schemas.openxmlformats.org/officeDocument/2006/relationships/slide" Target="/ppt/slides/slide1.xml" Id="R1acf4214b17f4277" /><Relationship Type="http://schemas.openxmlformats.org/officeDocument/2006/relationships/slide" Target="/ppt/slides/slide2.xml" Id="Rb446a005b4f3414a" /><Relationship Type="http://schemas.openxmlformats.org/officeDocument/2006/relationships/slide" Target="/ppt/slides/slide3.xml" Id="Rd37773b54e1d4764" /><Relationship Type="http://schemas.openxmlformats.org/officeDocument/2006/relationships/slide" Target="/ppt/slides/slide4.xml" Id="R3cc5ebe3db7f409e" /><Relationship Type="http://schemas.openxmlformats.org/officeDocument/2006/relationships/slide" Target="/ppt/slides/slide5.xml" Id="R1899fff8faeb4772" /><Relationship Type="http://schemas.openxmlformats.org/officeDocument/2006/relationships/slide" Target="/ppt/slides/slide6.xml" Id="R44b6729a9fd24e74" /><Relationship Type="http://schemas.openxmlformats.org/officeDocument/2006/relationships/slide" Target="/ppt/slides/slide7.xml" Id="Rf9c8835bef6a48f9" /><Relationship Type="http://schemas.openxmlformats.org/officeDocument/2006/relationships/slide" Target="/ppt/slides/slide8.xml" Id="R8e5c36672f4e4770" /><Relationship Type="http://schemas.openxmlformats.org/officeDocument/2006/relationships/slide" Target="/ppt/slides/slide9.xml" Id="R2833f7ed8e0f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ab8ac1c55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26c37d216474f" /><Relationship Type="http://schemas.openxmlformats.org/officeDocument/2006/relationships/notesMaster" Target="/ppt/notesMasters/notesMaster1.xml" Id="R16af3e8fee944f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66af62f534f3e" /><Relationship Type="http://schemas.openxmlformats.org/officeDocument/2006/relationships/notesMaster" Target="/ppt/notesMasters/notesMaster1.xml" Id="R52fafc46abf4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8cfcf13f524c6a" /><Relationship Type="http://schemas.openxmlformats.org/officeDocument/2006/relationships/notesMaster" Target="/ppt/notesMasters/notesMaster1.xml" Id="R942d9886adf646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62f0b95847405c" /><Relationship Type="http://schemas.openxmlformats.org/officeDocument/2006/relationships/notesMaster" Target="/ppt/notesMasters/notesMaster1.xml" Id="Rfe2d8d6d2beb46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84af56d0094171" /><Relationship Type="http://schemas.openxmlformats.org/officeDocument/2006/relationships/notesMaster" Target="/ppt/notesMasters/notesMaster1.xml" Id="Raa0f7378e8a245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852a28e0424221" /><Relationship Type="http://schemas.openxmlformats.org/officeDocument/2006/relationships/notesMaster" Target="/ppt/notesMasters/notesMaster1.xml" Id="R6ebc3cf7da4f4a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3a34ce60cc44be" /><Relationship Type="http://schemas.openxmlformats.org/officeDocument/2006/relationships/notesMaster" Target="/ppt/notesMasters/notesMaster1.xml" Id="Racaa11c9edc848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e0b8835cc4889" /><Relationship Type="http://schemas.openxmlformats.org/officeDocument/2006/relationships/notesMaster" Target="/ppt/notesMasters/notesMaster1.xml" Id="Red8084fa677f41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3eb703472477e" /><Relationship Type="http://schemas.openxmlformats.org/officeDocument/2006/relationships/notesMaster" Target="/ppt/notesMasters/notesMaster1.xml" Id="R42188e6a9b5f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4db716b3b47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f021c18c1d4e98" /><Relationship Type="http://schemas.openxmlformats.org/officeDocument/2006/relationships/slideLayout" Target="/ppt/slideLayouts/slideLayout1.xml" Id="R6bc8b3f7419e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8b3f7419e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9de2c7b644b06" /><Relationship Type="http://schemas.openxmlformats.org/officeDocument/2006/relationships/notesSlide" Target="/ppt/notesSlides/notesSlide1.xml" Id="Rfb8b547671874e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d8a5aa0914675" /><Relationship Type="http://schemas.openxmlformats.org/officeDocument/2006/relationships/image" Target="/ppt/media/image.png" Id="R8d1fd678a2f74a7e" /><Relationship Type="http://schemas.openxmlformats.org/officeDocument/2006/relationships/notesSlide" Target="/ppt/notesSlides/notesSlide2.xml" Id="Re2c6d1101042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836662a0849f5" /><Relationship Type="http://schemas.openxmlformats.org/officeDocument/2006/relationships/notesSlide" Target="/ppt/notesSlides/notesSlide3.xml" Id="R926d98085ec342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56e22eb594980" /><Relationship Type="http://schemas.openxmlformats.org/officeDocument/2006/relationships/image" Target="/ppt/media/image2.png" Id="Rf5d820b1b52b4f83" /><Relationship Type="http://schemas.openxmlformats.org/officeDocument/2006/relationships/notesSlide" Target="/ppt/notesSlides/notesSlide4.xml" Id="Rf55001e43747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e1fabe804ba9" /><Relationship Type="http://schemas.openxmlformats.org/officeDocument/2006/relationships/image" Target="/ppt/media/image3.png" Id="R4adb943bf54145d1" /><Relationship Type="http://schemas.openxmlformats.org/officeDocument/2006/relationships/image" Target="/ppt/media/image4.png" Id="R8c11c81caeb44e43" /><Relationship Type="http://schemas.openxmlformats.org/officeDocument/2006/relationships/notesSlide" Target="/ppt/notesSlides/notesSlide5.xml" Id="Rcf14e9dc12d44c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96024c5524220" /><Relationship Type="http://schemas.openxmlformats.org/officeDocument/2006/relationships/image" Target="/ppt/media/image5.png" Id="R51b24cfa6e704675" /><Relationship Type="http://schemas.openxmlformats.org/officeDocument/2006/relationships/image" Target="/ppt/media/image6.png" Id="R204c5cf8f0424c14" /><Relationship Type="http://schemas.openxmlformats.org/officeDocument/2006/relationships/notesSlide" Target="/ppt/notesSlides/notesSlide6.xml" Id="R25b5b7cfc6a447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5b6331a554dff" /><Relationship Type="http://schemas.openxmlformats.org/officeDocument/2006/relationships/image" Target="/ppt/media/image7.png" Id="R9e673a02b9b642df" /><Relationship Type="http://schemas.openxmlformats.org/officeDocument/2006/relationships/notesSlide" Target="/ppt/notesSlides/notesSlide7.xml" Id="R276e43b9d2374e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00957f2524e5b" /><Relationship Type="http://schemas.openxmlformats.org/officeDocument/2006/relationships/image" Target="/ppt/media/image8.png" Id="Rbfc9f26111c64dac" /><Relationship Type="http://schemas.openxmlformats.org/officeDocument/2006/relationships/notesSlide" Target="/ppt/notesSlides/notesSlide8.xml" Id="R1a425a491d8745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5caa75a484633" /><Relationship Type="http://schemas.openxmlformats.org/officeDocument/2006/relationships/notesSlide" Target="/ppt/notesSlides/notesSlide9.xml" Id="R30eed1dc0cf34b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32842-3591-420A-AE66-3DD8989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8A3048D-3EB4-42AA-BDE1-632E6E4D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PRESENTASI TUGAS AKHIR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54C1CF-BDE7-41C4-AD8F-B38EEFFD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Pengembangan Sistem Navigasi Spasial dan Optimasi Engine Unity WebGL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765EE77-9590-4192-81FE-4004F370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56274"/>
                </a:solidFill>
                <a:latin typeface="Arial"/>
                <a:ea typeface="Arial"/>
                <a:cs typeface="Arial"/>
              </a:rPr>
              <a:t>Pada Sistem Denah Virtual UPNVJ Kampus Pondok Labu</a:t>
            </a:r>
          </a:p>
        </p:txBody>
      </p:sp>
      <p:sp>
        <p:nvSpPr>
          <p:cNvPr id="5" name="title-panel">
            <a:extLst xmlns:a="http://schemas.openxmlformats.org/drawingml/2006/main">
              <a:ext uri="{FF2B5EF4-FFF2-40B4-BE49-F238E27FC236}">
                <a16:creationId xmlns:a16="http://schemas.microsoft.com/office/drawing/2014/main" id="{04C016DE-C193-41E0-91A7-7D84FC4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14400"/>
            <a:ext cx="3333750" cy="4095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31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5DF18-733A-462C-A059-B530680A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742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erson">
            <a:extLst xmlns:a="http://schemas.openxmlformats.org/drawingml/2006/main">
              <a:ext uri="{FF2B5EF4-FFF2-40B4-BE49-F238E27FC236}">
                <a16:creationId xmlns:a16="http://schemas.microsoft.com/office/drawing/2014/main" id="{509BF91D-8AA7-49D0-8EAD-A16BAEA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28800"/>
            <a:ext cx="257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Muammar Faiz Khairul Anam Setiawan</a:t>
            </a:r>
          </a:p>
        </p:txBody>
      </p:sp>
      <p:sp>
        <p:nvSpPr>
          <p:cNvPr id="8" name="nim">
            <a:extLst xmlns:a="http://schemas.openxmlformats.org/drawingml/2006/main">
              <a:ext uri="{FF2B5EF4-FFF2-40B4-BE49-F238E27FC236}">
                <a16:creationId xmlns:a16="http://schemas.microsoft.com/office/drawing/2014/main" id="{B34A2B48-6BDF-4238-AC22-BC74D784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E8FA"/>
                </a:solidFill>
                <a:latin typeface="Arial"/>
                <a:ea typeface="Arial"/>
                <a:cs typeface="Arial"/>
              </a:rPr>
              <a:t>NIM 2210511138 · Informatika</a:t>
            </a:r>
          </a:p>
        </p:txBody>
      </p:sp>
      <p:sp>
        <p:nvSpPr>
          <p:cNvPr id="9" name="role">
            <a:extLst xmlns:a="http://schemas.openxmlformats.org/drawingml/2006/main">
              <a:ext uri="{FF2B5EF4-FFF2-40B4-BE49-F238E27FC236}">
                <a16:creationId xmlns:a16="http://schemas.microsoft.com/office/drawing/2014/main" id="{3FCD3A01-643B-4833-A26A-F6254AC4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9E8F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9E8FA"/>
                </a:solidFill>
                <a:latin typeface="Arial"/>
                <a:ea typeface="Arial"/>
                <a:cs typeface="Arial"/>
              </a:rPr>
              <a:t>3D Simulator dan Engine Developer</a:t>
            </a:r>
          </a:p>
        </p:txBody>
      </p:sp>
      <p:sp>
        <p:nvSpPr>
          <p:cNvPr id="10" name="project">
            <a:extLst xmlns:a="http://schemas.openxmlformats.org/drawingml/2006/main">
              <a:ext uri="{FF2B5EF4-FFF2-40B4-BE49-F238E27FC236}">
                <a16:creationId xmlns:a16="http://schemas.microsoft.com/office/drawing/2014/main" id="{9CC1DD7B-7CD3-446B-B4DA-2EDBFCE7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Proyek Denah Virtual UPNVJ Kampus Pondok Labu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85EF1B1-7084-4E9C-84D0-6EAF269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12" name="year-footer">
            <a:extLst xmlns:a="http://schemas.openxmlformats.org/drawingml/2006/main">
              <a:ext uri="{FF2B5EF4-FFF2-40B4-BE49-F238E27FC236}">
                <a16:creationId xmlns:a16="http://schemas.microsoft.com/office/drawing/2014/main" id="{BE958D55-EDFE-48BB-9288-F31FA12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</p:spTree>
    <p:extLst>
      <p:ext uri="{BB962C8B-B14F-4D97-AF65-F5344CB8AC3E}">
        <p14:creationId xmlns:p14="http://schemas.microsoft.com/office/powerpoint/2010/main" val="434151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061D0AA-7E1C-4320-ADF7-E134761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KONTEKS MASALAH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D7AE7F-C26B-4BC2-9EBA-155193B4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Masalah navigasi yang diselesaikan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05269-A92B-414D-A0E1-7F05E4B9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0EEE52E-5020-49AD-86DB-03C0D14A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FCBB876C-AD0B-4701-90A3-90F58FAE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FAF7B2F6-8E73-4EA5-BB1B-C4B4A20D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9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11827"/>
                </a:solidFill>
                <a:latin typeface="Arial"/>
                <a:ea typeface="Arial"/>
                <a:cs typeface="Arial"/>
              </a:rPr>
              <a:t>Pengguna memerlukan jalur dari pilihan fasilitas menuju tujuan pada denah 3D, dengan transisi lantai, titik awal, kontrol lintas perangkat, dan performa yang tetap terukur.</a:t>
            </a:r>
          </a:p>
        </p:txBody>
      </p:sp>
      <p:sp>
        <p:nvSpPr>
          <p:cNvPr id="7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EB1E734E-D8F3-49F3-8D48-F293240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6B5F0C59-0154-4FD3-A535-E5200415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548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Memilih titik awal dan tujuan.</a:t>
            </a:r>
          </a:p>
        </p:txBody>
      </p:sp>
      <p:sp>
        <p:nvSpPr>
          <p:cNvPr id="9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750A905C-4010-4203-BFFE-2545CC1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7F73CFD3-9003-4BDD-92DE-8A484F6C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548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Menyusun rute pada area yang dapat dilalui.</a:t>
            </a:r>
          </a:p>
        </p:txBody>
      </p:sp>
      <p:sp>
        <p:nvSpPr>
          <p:cNvPr id="11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50366F68-1D0B-4719-9274-2B2719B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F9F18421-9AB7-4484-A293-A6A2F02F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548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Menampilkan rute dan minimap secara adaptif.</a:t>
            </a:r>
          </a:p>
        </p:txBody>
      </p:sp>
      <p:sp>
        <p:nvSpPr>
          <p:cNvPr id="13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8CBA276A-FF0B-405E-AF2E-4DC0C3C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42A34304-D564-47DD-A1E7-A09D346D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5486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Menjaga build WebGL tetap dapat dijalankan di browser.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fd678a2f74a7e"/>
          <a:stretch xmlns:a="http://schemas.openxmlformats.org/drawingml/2006/main"/>
        </p:blipFill>
        <p:spPr>
          <a:xfrm xmlns:a="http://schemas.openxmlformats.org/drawingml/2006/main">
            <a:off x="7239000" y="2149078"/>
            <a:ext cx="3810000" cy="2274094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</p:spTree>
    <p:extLst>
      <p:ext uri="{BB962C8B-B14F-4D97-AF65-F5344CB8AC3E}">
        <p14:creationId xmlns:p14="http://schemas.microsoft.com/office/powerpoint/2010/main" val="169149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F0DF636C-B705-4FA5-807E-2AA17B9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RUANG LINGKUP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54C22A-C324-4722-9F21-A3877689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Batas kontribusi Faiz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44ABF-19A8-4ACD-9262-EEC3CDF6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8B043C7-940D-4259-AF86-AF9E184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3CDA4214-5287-483E-94A2-EF6EA399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5119-A001-4907-A541-E2F1F39B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0482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title">
            <a:extLst xmlns:a="http://schemas.openxmlformats.org/drawingml/2006/main">
              <a:ext uri="{FF2B5EF4-FFF2-40B4-BE49-F238E27FC236}">
                <a16:creationId xmlns:a16="http://schemas.microsoft.com/office/drawing/2014/main" id="{0B40EA06-FF51-4F45-9FD8-85A1BCC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Fokus kontribusi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1011A71A-E79F-4A50-A158-420F5D6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E24AE5B6-FE39-441E-B2A5-05AB4019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396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Runtime Unity dan alur navigasi.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305D4B57-B6CE-4620-B964-36B64B1E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67AE0DB1-1DFA-4A59-8E89-16A1E061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38475"/>
            <a:ext cx="396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NavMesh, rute, perubahan elevasi, dan highlighter.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D10093B6-81C5-40A1-8AD5-AD4F3324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90F24141-BA4A-41FC-8492-50383AF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396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Kontrol desktop/mobile, spawn, minimap, dan tutorial.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EFE52537-6728-4DCB-86AC-9B2EE92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EB0BC18A-7692-4828-9465-2220DBCF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396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Optimasi building culling, occlusion, dan WebGL.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D0086065-F929-4DEB-9D21-6A1F908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B137DAF3-32FF-42DB-9036-95F3FE96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3962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DatabaseSyncChecker untuk validasi nama tujuan.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AAC3F-AF4A-4DB7-A75B-620F20F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8577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collab-title">
            <a:extLst xmlns:a="http://schemas.openxmlformats.org/drawingml/2006/main">
              <a:ext uri="{FF2B5EF4-FFF2-40B4-BE49-F238E27FC236}">
                <a16:creationId xmlns:a16="http://schemas.microsoft.com/office/drawing/2014/main" id="{BC1D273B-55CB-4EED-B485-2C7804D7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Kolaborasi lintas peran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8F1045C-1380-44CC-8C4E-134ED6AE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57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83C6DDFE-26D1-4CB8-AED8-EAC59B44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Dwikhi: asset 3D, hierarki, ERD, dan data.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A14CC631-D569-4C00-A89C-5EC8C7BA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FC473326-9548-49D9-8AB6-07E7A3EF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Iman: dashboard, API, autentikasi, dan deployment.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BCC82ACA-836B-4B2E-AA63-BA58168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B89B1D3C-425F-4770-8459-E417B86B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3867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Faiz mengolah aset/data menjadi pengalaman runtime yang dapat digunakan.</a:t>
            </a:r>
          </a:p>
        </p:txBody>
      </p:sp>
    </p:spTree>
    <p:extLst>
      <p:ext uri="{BB962C8B-B14F-4D97-AF65-F5344CB8AC3E}">
        <p14:creationId xmlns:p14="http://schemas.microsoft.com/office/powerpoint/2010/main" val="1549973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3E7F3052-080E-45CF-8AA4-636FCA7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METODE DAN PROSES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E53BB1-5C53-4F7D-A67E-454845A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Pipeline runtime 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B1522-50E8-4E3E-88FC-3E6ECA9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D3570F-7B8A-40CC-97E4-FCDB8CD2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081AEB39-7455-40EA-B691-0637407B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820b1b52b4f83"/>
          <a:stretch xmlns:a="http://schemas.openxmlformats.org/drawingml/2006/main"/>
        </p:blipFill>
        <p:spPr>
          <a:xfrm xmlns:a="http://schemas.openxmlformats.org/drawingml/2006/main">
            <a:off x="685800" y="2036862"/>
            <a:ext cx="5143500" cy="3070027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F47DE-5A64-4A21-9B3A-96D67E4F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76400"/>
            <a:ext cx="4714875" cy="3790950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992A28AD-5256-4121-8D05-280F3941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Urutan kerja runtime</a:t>
            </a:r>
          </a:p>
        </p:txBody>
      </p:sp>
      <p:sp>
        <p:nvSpPr>
          <p:cNvPr id="9" name="run-num-0">
            <a:extLst xmlns:a="http://schemas.openxmlformats.org/drawingml/2006/main">
              <a:ext uri="{FF2B5EF4-FFF2-40B4-BE49-F238E27FC236}">
                <a16:creationId xmlns:a16="http://schemas.microsoft.com/office/drawing/2014/main" id="{C118F320-41CC-40C8-8E29-123E59AA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un-title-0">
            <a:extLst xmlns:a="http://schemas.openxmlformats.org/drawingml/2006/main">
              <a:ext uri="{FF2B5EF4-FFF2-40B4-BE49-F238E27FC236}">
                <a16:creationId xmlns:a16="http://schemas.microsoft.com/office/drawing/2014/main" id="{6731C56C-ADA1-4535-B5B3-13E226A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1" name="run-copy-0">
            <a:extLst xmlns:a="http://schemas.openxmlformats.org/drawingml/2006/main">
              <a:ext uri="{FF2B5EF4-FFF2-40B4-BE49-F238E27FC236}">
                <a16:creationId xmlns:a16="http://schemas.microsoft.com/office/drawing/2014/main" id="{519F2032-BE18-48D0-B4E1-5BF3651A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Menerima data tujuan dan metadata.</a:t>
            </a:r>
          </a:p>
        </p:txBody>
      </p:sp>
      <p:sp>
        <p:nvSpPr>
          <p:cNvPr id="12" name="run-num-1">
            <a:extLst xmlns:a="http://schemas.openxmlformats.org/drawingml/2006/main">
              <a:ext uri="{FF2B5EF4-FFF2-40B4-BE49-F238E27FC236}">
                <a16:creationId xmlns:a16="http://schemas.microsoft.com/office/drawing/2014/main" id="{C1352B0A-8988-4F58-B3D0-96E38E8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un-title-1">
            <a:extLst xmlns:a="http://schemas.openxmlformats.org/drawingml/2006/main">
              <a:ext uri="{FF2B5EF4-FFF2-40B4-BE49-F238E27FC236}">
                <a16:creationId xmlns:a16="http://schemas.microsoft.com/office/drawing/2014/main" id="{2F24D7EF-7F4E-4F9A-8A63-2253FEE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Spawn</a:t>
            </a:r>
          </a:p>
        </p:txBody>
      </p:sp>
      <p:sp>
        <p:nvSpPr>
          <p:cNvPr id="14" name="run-copy-1">
            <a:extLst xmlns:a="http://schemas.openxmlformats.org/drawingml/2006/main">
              <a:ext uri="{FF2B5EF4-FFF2-40B4-BE49-F238E27FC236}">
                <a16:creationId xmlns:a16="http://schemas.microsoft.com/office/drawing/2014/main" id="{E5145F97-0D79-488E-9322-F118424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Menentukan titik awal dan posisi pemain.</a:t>
            </a:r>
          </a:p>
        </p:txBody>
      </p:sp>
      <p:sp>
        <p:nvSpPr>
          <p:cNvPr id="15" name="run-num-2">
            <a:extLst xmlns:a="http://schemas.openxmlformats.org/drawingml/2006/main">
              <a:ext uri="{FF2B5EF4-FFF2-40B4-BE49-F238E27FC236}">
                <a16:creationId xmlns:a16="http://schemas.microsoft.com/office/drawing/2014/main" id="{B3808AB3-793F-4652-AFBC-27EC3BA9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05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un-title-2">
            <a:extLst xmlns:a="http://schemas.openxmlformats.org/drawingml/2006/main">
              <a:ext uri="{FF2B5EF4-FFF2-40B4-BE49-F238E27FC236}">
                <a16:creationId xmlns:a16="http://schemas.microsoft.com/office/drawing/2014/main" id="{312D870E-1594-4BCE-ADE4-15BE382A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957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7" name="run-copy-2">
            <a:extLst xmlns:a="http://schemas.openxmlformats.org/drawingml/2006/main">
              <a:ext uri="{FF2B5EF4-FFF2-40B4-BE49-F238E27FC236}">
                <a16:creationId xmlns:a16="http://schemas.microsoft.com/office/drawing/2014/main" id="{C3FD83E1-1B19-4A0B-8AE5-025356F7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Mencari jalur pada NavMesh.</a:t>
            </a:r>
          </a:p>
        </p:txBody>
      </p:sp>
      <p:sp>
        <p:nvSpPr>
          <p:cNvPr id="18" name="run-num-3">
            <a:extLst xmlns:a="http://schemas.openxmlformats.org/drawingml/2006/main">
              <a:ext uri="{FF2B5EF4-FFF2-40B4-BE49-F238E27FC236}">
                <a16:creationId xmlns:a16="http://schemas.microsoft.com/office/drawing/2014/main" id="{13C3B19B-25F5-4BEF-A1CB-94252467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un-title-3">
            <a:extLst xmlns:a="http://schemas.openxmlformats.org/drawingml/2006/main">
              <a:ext uri="{FF2B5EF4-FFF2-40B4-BE49-F238E27FC236}">
                <a16:creationId xmlns:a16="http://schemas.microsoft.com/office/drawing/2014/main" id="{F808C9BE-953F-4FAD-8285-04C860F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624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0" name="run-copy-3">
            <a:extLst xmlns:a="http://schemas.openxmlformats.org/drawingml/2006/main">
              <a:ext uri="{FF2B5EF4-FFF2-40B4-BE49-F238E27FC236}">
                <a16:creationId xmlns:a16="http://schemas.microsoft.com/office/drawing/2014/main" id="{281D25E1-655A-4BB5-A7A7-F7D6D52D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720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56274"/>
                </a:solidFill>
                <a:latin typeface="Arial"/>
                <a:ea typeface="Arial"/>
                <a:cs typeface="Arial"/>
              </a:rPr>
              <a:t>Menampilkan rute, minimap, dan notifikasi.</a:t>
            </a:r>
          </a:p>
        </p:txBody>
      </p:sp>
    </p:spTree>
    <p:extLst>
      <p:ext uri="{BB962C8B-B14F-4D97-AF65-F5344CB8AC3E}">
        <p14:creationId xmlns:p14="http://schemas.microsoft.com/office/powerpoint/2010/main" val="837218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21CA0C2-763C-4F2B-9EE2-4200DCD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NAVIGASI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3A8192-3B64-4647-B5BA-C00233E2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Rute, elevasi, dan titik tujuan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DDCF5-9679-4484-B3D6-482F285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E610725-B0A8-49A9-B077-EC4348FD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6E6BF088-AF99-4EB9-8C76-4BDC547D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b943bf54145d1"/>
          <a:stretch xmlns:a="http://schemas.openxmlformats.org/drawingml/2006/main"/>
        </p:blipFill>
        <p:spPr>
          <a:xfrm xmlns:a="http://schemas.openxmlformats.org/drawingml/2006/main">
            <a:off x="685800" y="1903214"/>
            <a:ext cx="4953000" cy="2956322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1c81caeb44e43"/>
          <a:stretch xmlns:a="http://schemas.openxmlformats.org/drawingml/2006/main"/>
        </p:blipFill>
        <p:spPr>
          <a:xfrm xmlns:a="http://schemas.openxmlformats.org/drawingml/2006/main">
            <a:off x="6191250" y="1931640"/>
            <a:ext cx="4857750" cy="289947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route-note">
            <a:extLst xmlns:a="http://schemas.openxmlformats.org/drawingml/2006/main">
              <a:ext uri="{FF2B5EF4-FFF2-40B4-BE49-F238E27FC236}">
                <a16:creationId xmlns:a16="http://schemas.microsoft.com/office/drawing/2014/main" id="{89BFE219-2598-4EAC-9BF1-1E09BCB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6274"/>
                </a:solidFill>
                <a:latin typeface="Arial"/>
                <a:ea typeface="Arial"/>
                <a:cs typeface="Arial"/>
              </a:rPr>
              <a:t>Bukti runtime memperlihatkan jalur yang melewati perubahan elevasi dan posisi pemain/tujuan pada minimap. Aset dan kode lokasi yang disiapkan Dwikhi menjadi input untuk proses ini.</a:t>
            </a:r>
          </a:p>
        </p:txBody>
      </p:sp>
    </p:spTree>
    <p:extLst>
      <p:ext uri="{BB962C8B-B14F-4D97-AF65-F5344CB8AC3E}">
        <p14:creationId xmlns:p14="http://schemas.microsoft.com/office/powerpoint/2010/main" val="1779336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372E735B-9941-4B5D-AF9B-EA80E76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INTERAKSI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E323EC-283A-42A2-ABD0-1D474400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Kontrol lintas perangkat dan tutorial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EE339-190F-4E10-A9ED-8FF18BE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2823513-5DE9-4F3D-85EF-3C61B492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0DDD8146-08FC-4AF3-AF3E-752DD2AF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24cfa6e704675"/>
          <a:stretch xmlns:a="http://schemas.openxmlformats.org/drawingml/2006/main"/>
        </p:blipFill>
        <p:spPr>
          <a:xfrm xmlns:a="http://schemas.openxmlformats.org/drawingml/2006/main">
            <a:off x="685800" y="1833563"/>
            <a:ext cx="4953000" cy="3095625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c5cf8f0424c14"/>
          <a:stretch xmlns:a="http://schemas.openxmlformats.org/drawingml/2006/main"/>
        </p:blipFill>
        <p:spPr>
          <a:xfrm xmlns:a="http://schemas.openxmlformats.org/drawingml/2006/main">
            <a:off x="6191250" y="2260356"/>
            <a:ext cx="4857750" cy="2242038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controls-note">
            <a:extLst xmlns:a="http://schemas.openxmlformats.org/drawingml/2006/main">
              <a:ext uri="{FF2B5EF4-FFF2-40B4-BE49-F238E27FC236}">
                <a16:creationId xmlns:a16="http://schemas.microsoft.com/office/drawing/2014/main" id="{EE9C7C26-2278-41F7-8225-01285ADB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56274"/>
                </a:solidFill>
                <a:latin typeface="Arial"/>
                <a:ea typeface="Arial"/>
                <a:cs typeface="Arial"/>
              </a:rPr>
              <a:t>Kontrol desktop dan mobile memberi jalur interaksi yang berbeda, sedangkan tutorial adaptif membantu pengguna memahami cara melihat sekeliling dan bergerak.</a:t>
            </a:r>
          </a:p>
        </p:txBody>
      </p:sp>
    </p:spTree>
    <p:extLst>
      <p:ext uri="{BB962C8B-B14F-4D97-AF65-F5344CB8AC3E}">
        <p14:creationId xmlns:p14="http://schemas.microsoft.com/office/powerpoint/2010/main" val="195043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2287292-C678-47D3-A2A0-B99059F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IMPLEMENTASI ENGINE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395767-38B2-4F22-8A27-639980F2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Optimasi dan build WebGL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766F5-19AC-4F2D-B68C-A22CFC3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BEE8401-8CD9-4C72-A376-E221A6CE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EBADF0D5-2E97-487F-AF62-3E3ECD5B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73a02b9b642df"/>
          <a:stretch xmlns:a="http://schemas.openxmlformats.org/drawingml/2006/main"/>
        </p:blipFill>
        <p:spPr>
          <a:xfrm xmlns:a="http://schemas.openxmlformats.org/drawingml/2006/main">
            <a:off x="685800" y="1832958"/>
            <a:ext cx="4953000" cy="3096835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41A70-C644-4685-B743-81B447AC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857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t-title">
            <a:extLst xmlns:a="http://schemas.openxmlformats.org/drawingml/2006/main">
              <a:ext uri="{FF2B5EF4-FFF2-40B4-BE49-F238E27FC236}">
                <a16:creationId xmlns:a16="http://schemas.microsoft.com/office/drawing/2014/main" id="{6D65FC30-C9E5-4B0B-9F37-80DCFD2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Fokus optimasi</a:t>
            </a:r>
          </a:p>
        </p:txBody>
      </p:sp>
      <p:sp>
        <p:nvSpPr>
          <p:cNvPr id="9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44B76F26-324B-4BAA-88CF-8255A120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05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0">
            <a:extLst xmlns:a="http://schemas.openxmlformats.org/drawingml/2006/main">
              <a:ext uri="{FF2B5EF4-FFF2-40B4-BE49-F238E27FC236}">
                <a16:creationId xmlns:a16="http://schemas.microsoft.com/office/drawing/2014/main" id="{E3BD8A61-A6C4-4B63-8AA0-B45570D6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19375"/>
            <a:ext cx="3676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Building culling dan occlusion culling.</a:t>
            </a:r>
          </a:p>
        </p:txBody>
      </p:sp>
      <p:sp>
        <p:nvSpPr>
          <p:cNvPr id="11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EA0074A1-BBCD-4852-856E-FC307F9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ABA9CA0C-25C4-4280-9232-533B917F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95625"/>
            <a:ext cx="3676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Konfigurasi scene dan komponen engine.</a:t>
            </a:r>
          </a:p>
        </p:txBody>
      </p:sp>
      <p:sp>
        <p:nvSpPr>
          <p:cNvPr id="13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3D37013C-83AC-43F3-8F61-D3824955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2">
            <a:extLst xmlns:a="http://schemas.openxmlformats.org/drawingml/2006/main">
              <a:ext uri="{FF2B5EF4-FFF2-40B4-BE49-F238E27FC236}">
                <a16:creationId xmlns:a16="http://schemas.microsoft.com/office/drawing/2014/main" id="{03294A61-3B8B-408E-B091-B5A989A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71875"/>
            <a:ext cx="3676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Profiling untuk membandingkan beban render.</a:t>
            </a:r>
          </a:p>
        </p:txBody>
      </p:sp>
      <p:sp>
        <p:nvSpPr>
          <p:cNvPr id="15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AD869D8B-1904-4C95-98A3-43070277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3">
            <a:extLst xmlns:a="http://schemas.openxmlformats.org/drawingml/2006/main">
              <a:ext uri="{FF2B5EF4-FFF2-40B4-BE49-F238E27FC236}">
                <a16:creationId xmlns:a16="http://schemas.microsoft.com/office/drawing/2014/main" id="{118899C0-91B8-4E46-B4C1-CE7580A8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48125"/>
            <a:ext cx="3676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Build WebGL dan pengaturan lintas platform.</a:t>
            </a:r>
          </a:p>
        </p:txBody>
      </p:sp>
    </p:spTree>
    <p:extLst>
      <p:ext uri="{BB962C8B-B14F-4D97-AF65-F5344CB8AC3E}">
        <p14:creationId xmlns:p14="http://schemas.microsoft.com/office/powerpoint/2010/main" val="2323747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E059B7-FA5A-49B7-B664-DBDC4E9B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VALIDASI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C71C3B-0FC4-4865-A22C-9BADCE00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Validasi konsistensi dan hasil pengujian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0B3BF-C257-4BC6-BD7B-4AC703CC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2D2D060-C1A0-4FED-B7E0-80DC169A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BA4CEA0E-4EF7-4D81-AA4E-2C3C575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9f26111c64dac"/>
          <a:stretch xmlns:a="http://schemas.openxmlformats.org/drawingml/2006/main"/>
        </p:blipFill>
        <p:spPr>
          <a:xfrm xmlns:a="http://schemas.openxmlformats.org/drawingml/2006/main">
            <a:off x="1938347" y="1714500"/>
            <a:ext cx="2447906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7" name="metric-Black Box final">
            <a:extLst xmlns:a="http://schemas.openxmlformats.org/drawingml/2006/main">
              <a:ext uri="{FF2B5EF4-FFF2-40B4-BE49-F238E27FC236}">
                <a16:creationId xmlns:a16="http://schemas.microsoft.com/office/drawing/2014/main" id="{66EB1E3A-3BE8-4769-A4BE-38F0ED8C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00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metric-value-Black Box final">
            <a:extLst xmlns:a="http://schemas.openxmlformats.org/drawingml/2006/main">
              <a:ext uri="{FF2B5EF4-FFF2-40B4-BE49-F238E27FC236}">
                <a16:creationId xmlns:a16="http://schemas.microsoft.com/office/drawing/2014/main" id="{900FCEC8-6432-4B96-9843-16A240C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957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9570"/>
                </a:solidFill>
                <a:latin typeface="Arial"/>
                <a:ea typeface="Arial"/>
                <a:cs typeface="Arial"/>
              </a:rPr>
              <a:t>24/24</a:t>
            </a:r>
          </a:p>
        </p:txBody>
      </p:sp>
      <p:sp>
        <p:nvSpPr>
          <p:cNvPr id="9" name="metric-label-Black Box final">
            <a:extLst xmlns:a="http://schemas.openxmlformats.org/drawingml/2006/main">
              <a:ext uri="{FF2B5EF4-FFF2-40B4-BE49-F238E27FC236}">
                <a16:creationId xmlns:a16="http://schemas.microsoft.com/office/drawing/2014/main" id="{8BDEB38E-8FD6-4D05-9154-12ACB7FD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Black Box final</a:t>
            </a:r>
          </a:p>
        </p:txBody>
      </p:sp>
      <p:sp>
        <p:nvSpPr>
          <p:cNvPr id="10" name="metric-UAT gabungan">
            <a:extLst xmlns:a="http://schemas.openxmlformats.org/drawingml/2006/main">
              <a:ext uri="{FF2B5EF4-FFF2-40B4-BE49-F238E27FC236}">
                <a16:creationId xmlns:a16="http://schemas.microsoft.com/office/drawing/2014/main" id="{9B4732A7-F255-4663-8684-C409A0A7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00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metric-value-UAT gabungan">
            <a:extLst xmlns:a="http://schemas.openxmlformats.org/drawingml/2006/main">
              <a:ext uri="{FF2B5EF4-FFF2-40B4-BE49-F238E27FC236}">
                <a16:creationId xmlns:a16="http://schemas.microsoft.com/office/drawing/2014/main" id="{DB52EED3-654A-4A21-A927-F70B00E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81,50%</a:t>
            </a:r>
          </a:p>
        </p:txBody>
      </p:sp>
      <p:sp>
        <p:nvSpPr>
          <p:cNvPr id="12" name="metric-label-UAT gabungan">
            <a:extLst xmlns:a="http://schemas.openxmlformats.org/drawingml/2006/main">
              <a:ext uri="{FF2B5EF4-FFF2-40B4-BE49-F238E27FC236}">
                <a16:creationId xmlns:a16="http://schemas.microsoft.com/office/drawing/2014/main" id="{65A2E351-1DF9-4F51-AE15-8E02B0B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UAT gabungan</a:t>
            </a:r>
          </a:p>
        </p:txBody>
      </p:sp>
      <p:sp>
        <p:nvSpPr>
          <p:cNvPr id="13" name="sync-copy">
            <a:extLst xmlns:a="http://schemas.openxmlformats.org/drawingml/2006/main">
              <a:ext uri="{FF2B5EF4-FFF2-40B4-BE49-F238E27FC236}">
                <a16:creationId xmlns:a16="http://schemas.microsoft.com/office/drawing/2014/main" id="{4B829308-8FAA-478F-8BFB-BAF40D8B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381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DatabaseSyncChecker membantu menemukan ketidaksesuaian nama tujuan antara database dan scene. Implementasi alat berada pada kontribusi Faiz; perbaikan asset/data dilakukan sesuai pembagian peran.</a:t>
            </a:r>
          </a:p>
        </p:txBody>
      </p:sp>
      <p:sp>
        <p:nvSpPr>
          <p:cNvPr id="14" name="sync-note">
            <a:extLst xmlns:a="http://schemas.openxmlformats.org/drawingml/2006/main">
              <a:ext uri="{FF2B5EF4-FFF2-40B4-BE49-F238E27FC236}">
                <a16:creationId xmlns:a16="http://schemas.microsoft.com/office/drawing/2014/main" id="{A796BF0E-7F64-469B-9F72-FF882497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5627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56274"/>
                </a:solidFill>
                <a:latin typeface="Arial"/>
                <a:ea typeface="Arial"/>
                <a:cs typeface="Arial"/>
              </a:rPr>
              <a:t>Hasil UAT dan Black Box merupakan hasil bersama tim; slide ini menyoroti dampaknya terhadap runtime dan validasi engine.</a:t>
            </a:r>
          </a:p>
        </p:txBody>
      </p:sp>
    </p:spTree>
    <p:extLst>
      <p:ext uri="{BB962C8B-B14F-4D97-AF65-F5344CB8AC3E}">
        <p14:creationId xmlns:p14="http://schemas.microsoft.com/office/powerpoint/2010/main" val="1364875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0EF9636F-4907-4840-B29C-1758DF3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PENUTUP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4C8D8D-3293-4C18-8B86-0DD4BA7C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Kontribusi dan tindak lanjut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186AC-BCE8-453C-8AD3-D75D8316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AA6D365-AB73-4607-85DD-89C67CF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Sumber: Tugas_Akhir_Faiz_Formatted.docx + Tugas_Akhir_Draft.md (origin/laporan/faiz)</a:t>
            </a:r>
          </a:p>
        </p:txBody>
      </p:sp>
      <p:sp>
        <p:nvSpPr>
          <p:cNvPr id="5" name="year-footer">
            <a:extLst xmlns:a="http://schemas.openxmlformats.org/drawingml/2006/main">
              <a:ext uri="{FF2B5EF4-FFF2-40B4-BE49-F238E27FC236}">
                <a16:creationId xmlns:a16="http://schemas.microsoft.com/office/drawing/2014/main" id="{2497F097-33B4-46BE-BD15-A563FEC9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53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708093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708093"/>
                </a:solidFill>
                <a:latin typeface="Arial"/>
                <a:ea typeface="Arial"/>
                <a:cs typeface="Arial"/>
              </a:rPr>
              <a:t>UPNVJ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F300-430B-40E1-8A87-8A1769A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ne-title">
            <a:extLst xmlns:a="http://schemas.openxmlformats.org/drawingml/2006/main">
              <a:ext uri="{FF2B5EF4-FFF2-40B4-BE49-F238E27FC236}">
                <a16:creationId xmlns:a16="http://schemas.microsoft.com/office/drawing/2014/main" id="{31516867-5F7F-42AA-ACE7-237A0D0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Kontribusi utama</a:t>
            </a:r>
          </a:p>
        </p:txBody>
      </p:sp>
      <p:sp>
        <p:nvSpPr>
          <p:cNvPr id="8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8316F3F6-5D7D-431D-92D4-696557B3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672A6BA8-8610-4A9B-9160-A157F070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Runtime navigasi dan rute.</a:t>
            </a:r>
          </a:p>
        </p:txBody>
      </p:sp>
      <p:sp>
        <p:nvSpPr>
          <p:cNvPr id="10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9B90BC93-3863-41FA-A7B5-A13E55A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52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1">
            <a:extLst xmlns:a="http://schemas.openxmlformats.org/drawingml/2006/main">
              <a:ext uri="{FF2B5EF4-FFF2-40B4-BE49-F238E27FC236}">
                <a16:creationId xmlns:a16="http://schemas.microsoft.com/office/drawing/2014/main" id="{AB148B77-42F0-4EB9-87DA-4639F7D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Spawn, minimap, highlighter, tutorial.</a:t>
            </a:r>
          </a:p>
        </p:txBody>
      </p:sp>
      <p:sp>
        <p:nvSpPr>
          <p:cNvPr id="12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6FBE106E-5338-43A1-AC9A-B531699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2">
            <a:extLst xmlns:a="http://schemas.openxmlformats.org/drawingml/2006/main">
              <a:ext uri="{FF2B5EF4-FFF2-40B4-BE49-F238E27FC236}">
                <a16:creationId xmlns:a16="http://schemas.microsoft.com/office/drawing/2014/main" id="{6D235CCC-B48D-4101-85CB-13D15FE0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Kontrol desktop/mobile.</a:t>
            </a:r>
          </a:p>
        </p:txBody>
      </p:sp>
      <p:sp>
        <p:nvSpPr>
          <p:cNvPr id="14" name="bullet-dot-3">
            <a:extLst xmlns:a="http://schemas.openxmlformats.org/drawingml/2006/main">
              <a:ext uri="{FF2B5EF4-FFF2-40B4-BE49-F238E27FC236}">
                <a16:creationId xmlns:a16="http://schemas.microsoft.com/office/drawing/2014/main" id="{CCBAB0E7-2DD6-4D79-A770-D3E09568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3">
            <a:extLst xmlns:a="http://schemas.openxmlformats.org/drawingml/2006/main">
              <a:ext uri="{FF2B5EF4-FFF2-40B4-BE49-F238E27FC236}">
                <a16:creationId xmlns:a16="http://schemas.microsoft.com/office/drawing/2014/main" id="{5C6C7E26-0631-489C-A3F9-0739236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Culling, profiling, dan WebGL.</a:t>
            </a:r>
          </a:p>
        </p:txBody>
      </p:sp>
      <p:sp>
        <p:nvSpPr>
          <p:cNvPr id="16" name="bullet-dot-4">
            <a:extLst xmlns:a="http://schemas.openxmlformats.org/drawingml/2006/main">
              <a:ext uri="{FF2B5EF4-FFF2-40B4-BE49-F238E27FC236}">
                <a16:creationId xmlns:a16="http://schemas.microsoft.com/office/drawing/2014/main" id="{7C711C16-144A-4A39-9527-16F5A35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4">
            <a:extLst xmlns:a="http://schemas.openxmlformats.org/drawingml/2006/main">
              <a:ext uri="{FF2B5EF4-FFF2-40B4-BE49-F238E27FC236}">
                <a16:creationId xmlns:a16="http://schemas.microsoft.com/office/drawing/2014/main" id="{F3BF1318-A73B-4E3A-82FB-73972D3C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DatabaseSyncChecker.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E9FA8-2B6C-495C-A904-A0E0434A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9" name="next-title">
            <a:extLst xmlns:a="http://schemas.openxmlformats.org/drawingml/2006/main">
              <a:ext uri="{FF2B5EF4-FFF2-40B4-BE49-F238E27FC236}">
                <a16:creationId xmlns:a16="http://schemas.microsoft.com/office/drawing/2014/main" id="{CA54229D-2133-467F-906B-1E05C85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90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902F"/>
                </a:solidFill>
                <a:latin typeface="Arial"/>
                <a:ea typeface="Arial"/>
                <a:cs typeface="Arial"/>
              </a:rPr>
              <a:t>Tindak lanjut</a:t>
            </a:r>
          </a:p>
        </p:txBody>
      </p:sp>
      <p:sp>
        <p:nvSpPr>
          <p:cNvPr id="20" name="bullet-dot-0">
            <a:extLst xmlns:a="http://schemas.openxmlformats.org/drawingml/2006/main">
              <a:ext uri="{FF2B5EF4-FFF2-40B4-BE49-F238E27FC236}">
                <a16:creationId xmlns:a16="http://schemas.microsoft.com/office/drawing/2014/main" id="{97D438DD-D09B-48B3-AF87-E972274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3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D93D4996-1864-4619-86EA-42023F24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Retest dengan data lokasi yang konsisten.</a:t>
            </a:r>
          </a:p>
        </p:txBody>
      </p:sp>
      <p:sp>
        <p:nvSpPr>
          <p:cNvPr id="22" name="bullet-dot-1">
            <a:extLst xmlns:a="http://schemas.openxmlformats.org/drawingml/2006/main">
              <a:ext uri="{FF2B5EF4-FFF2-40B4-BE49-F238E27FC236}">
                <a16:creationId xmlns:a16="http://schemas.microsoft.com/office/drawing/2014/main" id="{03472DA4-83B1-4FF6-A645-C81498EF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ullet-1">
            <a:extLst xmlns:a="http://schemas.openxmlformats.org/drawingml/2006/main">
              <a:ext uri="{FF2B5EF4-FFF2-40B4-BE49-F238E27FC236}">
                <a16:creationId xmlns:a16="http://schemas.microsoft.com/office/drawing/2014/main" id="{A6693C4F-E6DC-4F5D-844E-0DA7A531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Pantau performa build di perangkat target.</a:t>
            </a:r>
          </a:p>
        </p:txBody>
      </p:sp>
      <p:sp>
        <p:nvSpPr>
          <p:cNvPr id="24" name="bullet-dot-2">
            <a:extLst xmlns:a="http://schemas.openxmlformats.org/drawingml/2006/main">
              <a:ext uri="{FF2B5EF4-FFF2-40B4-BE49-F238E27FC236}">
                <a16:creationId xmlns:a16="http://schemas.microsoft.com/office/drawing/2014/main" id="{10BB1902-53DB-4855-A17E-A48B6ABE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90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llet-2">
            <a:extLst xmlns:a="http://schemas.openxmlformats.org/drawingml/2006/main">
              <a:ext uri="{FF2B5EF4-FFF2-40B4-BE49-F238E27FC236}">
                <a16:creationId xmlns:a16="http://schemas.microsoft.com/office/drawing/2014/main" id="{719768FB-64F3-4034-A294-A07120EF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3771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Jaga kontrak nama objek ketika asset/data berubah.</a:t>
            </a:r>
          </a:p>
        </p:txBody>
      </p:sp>
      <p:sp>
        <p:nvSpPr>
          <p:cNvPr id="26" name="thanks">
            <a:extLst xmlns:a="http://schemas.openxmlformats.org/drawingml/2006/main">
              <a:ext uri="{FF2B5EF4-FFF2-40B4-BE49-F238E27FC236}">
                <a16:creationId xmlns:a16="http://schemas.microsoft.com/office/drawing/2014/main" id="{FB180B19-F72B-41C7-9694-28EB6DCD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31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315C"/>
                </a:solidFill>
                <a:latin typeface="Arial"/>
                <a:ea typeface="Arial"/>
                <a:cs typeface="Arial"/>
              </a:rPr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382040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2026-07-23T15:39:35.7260000Z</dcterms:created>
  <dcterms:modified xsi:type="dcterms:W3CDTF">2026-07-23T15:39:35.7260000Z</dcterms:modified>
</coreProperties>
</file>