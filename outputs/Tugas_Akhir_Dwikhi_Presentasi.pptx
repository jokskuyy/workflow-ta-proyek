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ba91407104e28" /><Relationship Type="http://schemas.openxmlformats.org/officeDocument/2006/relationships/extended-properties" Target="/docProps/app.xml" Id="R6dc6865ce83049d0" /><Relationship Type="http://schemas.openxmlformats.org/officeDocument/2006/relationships/officeDocument" Target="/ppt/presentation.xml" Id="R87d64d108be547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c81e4aa3f24ba4"/>
  </p:sldMasterIdLst>
  <p:notesMasterIdLst>
    <p:notesMasterId xmlns:r="http://schemas.openxmlformats.org/officeDocument/2006/relationships" r:id="R8a0c8d7fd36e4995"/>
  </p:notesMasterIdLst>
  <p:sldIdLst>
    <p:sldId xmlns:r="http://schemas.openxmlformats.org/officeDocument/2006/relationships" id="256" r:id="R73e7a3894c184a52"/>
    <p:sldId xmlns:r="http://schemas.openxmlformats.org/officeDocument/2006/relationships" id="257" r:id="Rda077e81804e475e"/>
    <p:sldId xmlns:r="http://schemas.openxmlformats.org/officeDocument/2006/relationships" id="258" r:id="R02acd93d02d546a2"/>
    <p:sldId xmlns:r="http://schemas.openxmlformats.org/officeDocument/2006/relationships" id="259" r:id="Ra5d05e328fc8401e"/>
    <p:sldId xmlns:r="http://schemas.openxmlformats.org/officeDocument/2006/relationships" id="260" r:id="R9b99d6cc42d94c90"/>
    <p:sldId xmlns:r="http://schemas.openxmlformats.org/officeDocument/2006/relationships" id="261" r:id="R18667341f1204cc5"/>
    <p:sldId xmlns:r="http://schemas.openxmlformats.org/officeDocument/2006/relationships" id="262" r:id="R0a285f4dd64a4c67"/>
    <p:sldId xmlns:r="http://schemas.openxmlformats.org/officeDocument/2006/relationships" id="263" r:id="R94c84f5525954b60"/>
    <p:sldId xmlns:r="http://schemas.openxmlformats.org/officeDocument/2006/relationships" id="264" r:id="R750d589e209049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054281474a42ad" /><Relationship Type="http://schemas.openxmlformats.org/officeDocument/2006/relationships/slideMaster" Target="/ppt/slideMasters/slideMaster1.xml" Id="Rbec81e4aa3f24ba4" /><Relationship Type="http://schemas.openxmlformats.org/officeDocument/2006/relationships/notesMaster" Target="/ppt/notesMasters/notesMaster1.xml" Id="R8a0c8d7fd36e4995" /><Relationship Type="http://schemas.openxmlformats.org/officeDocument/2006/relationships/presProps" Target="/ppt/presProps.xml" Id="Rfa4e5b10062f41b1" /><Relationship Type="http://schemas.openxmlformats.org/officeDocument/2006/relationships/tableStyles" Target="/ppt/tableStyles.xml" Id="R4038c753d6594f70" /><Relationship Type="http://schemas.openxmlformats.org/officeDocument/2006/relationships/slide" Target="/ppt/slides/slide1.xml" Id="R73e7a3894c184a52" /><Relationship Type="http://schemas.openxmlformats.org/officeDocument/2006/relationships/slide" Target="/ppt/slides/slide2.xml" Id="Rda077e81804e475e" /><Relationship Type="http://schemas.openxmlformats.org/officeDocument/2006/relationships/slide" Target="/ppt/slides/slide3.xml" Id="R02acd93d02d546a2" /><Relationship Type="http://schemas.openxmlformats.org/officeDocument/2006/relationships/slide" Target="/ppt/slides/slide4.xml" Id="Ra5d05e328fc8401e" /><Relationship Type="http://schemas.openxmlformats.org/officeDocument/2006/relationships/slide" Target="/ppt/slides/slide5.xml" Id="R9b99d6cc42d94c90" /><Relationship Type="http://schemas.openxmlformats.org/officeDocument/2006/relationships/slide" Target="/ppt/slides/slide6.xml" Id="R18667341f1204cc5" /><Relationship Type="http://schemas.openxmlformats.org/officeDocument/2006/relationships/slide" Target="/ppt/slides/slide7.xml" Id="R0a285f4dd64a4c67" /><Relationship Type="http://schemas.openxmlformats.org/officeDocument/2006/relationships/slide" Target="/ppt/slides/slide8.xml" Id="R94c84f5525954b60" /><Relationship Type="http://schemas.openxmlformats.org/officeDocument/2006/relationships/slide" Target="/ppt/slides/slide9.xml" Id="R750d589e209049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accf9c0c2b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0c20b2535453d" /><Relationship Type="http://schemas.openxmlformats.org/officeDocument/2006/relationships/notesMaster" Target="/ppt/notesMasters/notesMaster1.xml" Id="Rcbb51cbea8d84b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c64ca1f0844f40" /><Relationship Type="http://schemas.openxmlformats.org/officeDocument/2006/relationships/notesMaster" Target="/ppt/notesMasters/notesMaster1.xml" Id="R25f53dde54ff4c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ecb8f2d7524269" /><Relationship Type="http://schemas.openxmlformats.org/officeDocument/2006/relationships/notesMaster" Target="/ppt/notesMasters/notesMaster1.xml" Id="R75efb338784b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f73fbab30b4a19" /><Relationship Type="http://schemas.openxmlformats.org/officeDocument/2006/relationships/notesMaster" Target="/ppt/notesMasters/notesMaster1.xml" Id="Rcec9f66446a347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52201378c54474" /><Relationship Type="http://schemas.openxmlformats.org/officeDocument/2006/relationships/notesMaster" Target="/ppt/notesMasters/notesMaster1.xml" Id="Ref1814e5453f45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ab27c76edf471a" /><Relationship Type="http://schemas.openxmlformats.org/officeDocument/2006/relationships/notesMaster" Target="/ppt/notesMasters/notesMaster1.xml" Id="R6a0d1f1ade7c4a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a0a9fd6b484f2b" /><Relationship Type="http://schemas.openxmlformats.org/officeDocument/2006/relationships/notesMaster" Target="/ppt/notesMasters/notesMaster1.xml" Id="R8c2209be980e4d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a61cc735c74625" /><Relationship Type="http://schemas.openxmlformats.org/officeDocument/2006/relationships/notesMaster" Target="/ppt/notesMasters/notesMaster1.xml" Id="Rabcb0f2a5d3d45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5d178bfc1e4ab9" /><Relationship Type="http://schemas.openxmlformats.org/officeDocument/2006/relationships/notesMaster" Target="/ppt/notesMasters/notesMaster1.xml" Id="R9fd00f2dea194e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b15c6735641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a65aa9f3794d34" /><Relationship Type="http://schemas.openxmlformats.org/officeDocument/2006/relationships/slideLayout" Target="/ppt/slideLayouts/slideLayout1.xml" Id="Ra228d86c63ec42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28d86c63ec42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d673c245a4b35" /><Relationship Type="http://schemas.openxmlformats.org/officeDocument/2006/relationships/notesSlide" Target="/ppt/notesSlides/notesSlide1.xml" Id="Rd8e1f2fdd64c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e10a791334397" /><Relationship Type="http://schemas.openxmlformats.org/officeDocument/2006/relationships/image" Target="/ppt/media/image.png" Id="R82b1b83033ff43b4" /><Relationship Type="http://schemas.openxmlformats.org/officeDocument/2006/relationships/notesSlide" Target="/ppt/notesSlides/notesSlide2.xml" Id="R9123b5b8d871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e7f7e8a85488e" /><Relationship Type="http://schemas.openxmlformats.org/officeDocument/2006/relationships/notesSlide" Target="/ppt/notesSlides/notesSlide3.xml" Id="Rfdb4b91e61ee42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bfaebdcb14083" /><Relationship Type="http://schemas.openxmlformats.org/officeDocument/2006/relationships/notesSlide" Target="/ppt/notesSlides/notesSlide4.xml" Id="R397bf72af64a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3945b29654280" /><Relationship Type="http://schemas.openxmlformats.org/officeDocument/2006/relationships/image" Target="/ppt/media/image2.png" Id="Rdf685177789b489b" /><Relationship Type="http://schemas.openxmlformats.org/officeDocument/2006/relationships/image" Target="/ppt/media/image3.png" Id="R217a7228253347d8" /><Relationship Type="http://schemas.openxmlformats.org/officeDocument/2006/relationships/notesSlide" Target="/ppt/notesSlides/notesSlide5.xml" Id="R04f73459dd8e45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b8db4e83649be" /><Relationship Type="http://schemas.openxmlformats.org/officeDocument/2006/relationships/image" Target="/ppt/media/image4.png" Id="R210a1105f0ad4f16" /><Relationship Type="http://schemas.openxmlformats.org/officeDocument/2006/relationships/notesSlide" Target="/ppt/notesSlides/notesSlide6.xml" Id="R3d50a297ab1543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88087e1b84e93" /><Relationship Type="http://schemas.openxmlformats.org/officeDocument/2006/relationships/image" Target="/ppt/media/image5.png" Id="Rb88cdd2e0d404698" /><Relationship Type="http://schemas.openxmlformats.org/officeDocument/2006/relationships/notesSlide" Target="/ppt/notesSlides/notesSlide7.xml" Id="Rf114d0c366634f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924e918aa4aeb" /><Relationship Type="http://schemas.openxmlformats.org/officeDocument/2006/relationships/notesSlide" Target="/ppt/notesSlides/notesSlide8.xml" Id="Re76494aafeef4e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669566d154210" /><Relationship Type="http://schemas.openxmlformats.org/officeDocument/2006/relationships/notesSlide" Target="/ppt/notesSlides/notesSlide9.xml" Id="Re7c5d5aecd6045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E1A92-0735-4456-B3F5-70F04F0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08CCE13-0F0F-457E-B974-D316F746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PRESENTASI TUGAS AKHIR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6583CE-5AB0-4B9A-B5BB-3D1BF9BF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Perancangan Asset 3D dan Pengelolaan Database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019AC13-CC79-46C9-9555-8BAC3183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56274"/>
                </a:solidFill>
                <a:latin typeface="Arial"/>
                <a:ea typeface="Arial"/>
                <a:cs typeface="Arial"/>
              </a:rPr>
              <a:t>Pada Sistem Denah Virtual UPNVJ Kampus Pondok Labu</a:t>
            </a:r>
          </a:p>
        </p:txBody>
      </p:sp>
      <p:sp>
        <p:nvSpPr>
          <p:cNvPr id="5" name="title-panel">
            <a:extLst xmlns:a="http://schemas.openxmlformats.org/drawingml/2006/main">
              <a:ext uri="{FF2B5EF4-FFF2-40B4-BE49-F238E27FC236}">
                <a16:creationId xmlns:a16="http://schemas.microsoft.com/office/drawing/2014/main" id="{315D9EDF-82F7-44DB-B685-3FC0B978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3333750" cy="4095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3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80F93-AD82-486C-886C-0F9FE016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son">
            <a:extLst xmlns:a="http://schemas.openxmlformats.org/drawingml/2006/main">
              <a:ext uri="{FF2B5EF4-FFF2-40B4-BE49-F238E27FC236}">
                <a16:creationId xmlns:a16="http://schemas.microsoft.com/office/drawing/2014/main" id="{FB96A32A-9EB7-4D70-B6D1-5507346A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288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Dwikhi Deandra Purnianto</a:t>
            </a:r>
          </a:p>
        </p:txBody>
      </p:sp>
      <p:sp>
        <p:nvSpPr>
          <p:cNvPr id="8" name="nim">
            <a:extLst xmlns:a="http://schemas.openxmlformats.org/drawingml/2006/main">
              <a:ext uri="{FF2B5EF4-FFF2-40B4-BE49-F238E27FC236}">
                <a16:creationId xmlns:a16="http://schemas.microsoft.com/office/drawing/2014/main" id="{90F648B6-EF06-4AD0-9E8F-FF8DFCD8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9E8F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9E8FA"/>
                </a:solidFill>
                <a:latin typeface="Arial"/>
                <a:ea typeface="Arial"/>
                <a:cs typeface="Arial"/>
              </a:rPr>
              <a:t>NIM 2210511131 · Informatika</a:t>
            </a:r>
          </a:p>
        </p:txBody>
      </p:sp>
      <p:sp>
        <p:nvSpPr>
          <p:cNvPr id="9" name="role">
            <a:extLst xmlns:a="http://schemas.openxmlformats.org/drawingml/2006/main">
              <a:ext uri="{FF2B5EF4-FFF2-40B4-BE49-F238E27FC236}">
                <a16:creationId xmlns:a16="http://schemas.microsoft.com/office/drawing/2014/main" id="{D0D2A384-33C1-4584-8477-AE39398E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671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9E8F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9E8FA"/>
                </a:solidFill>
                <a:latin typeface="Arial"/>
                <a:ea typeface="Arial"/>
                <a:cs typeface="Arial"/>
              </a:rPr>
              <a:t>3D Asset Designer &amp; Database/Asset Manager</a:t>
            </a:r>
          </a:p>
        </p:txBody>
      </p:sp>
      <p:sp>
        <p:nvSpPr>
          <p:cNvPr id="10" name="project">
            <a:extLst xmlns:a="http://schemas.openxmlformats.org/drawingml/2006/main">
              <a:ext uri="{FF2B5EF4-FFF2-40B4-BE49-F238E27FC236}">
                <a16:creationId xmlns:a16="http://schemas.microsoft.com/office/drawing/2014/main" id="{ECF7390B-3A6F-45F9-98AF-8AE96D71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6274"/>
                </a:solidFill>
                <a:latin typeface="Arial"/>
                <a:ea typeface="Arial"/>
                <a:cs typeface="Arial"/>
              </a:rPr>
              <a:t>Proyek Denah Virtual UPNVJ Kampus Pondok Labu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1F595BE-61D1-4177-9416-AA09A6E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12" name="year-footer">
            <a:extLst xmlns:a="http://schemas.openxmlformats.org/drawingml/2006/main">
              <a:ext uri="{FF2B5EF4-FFF2-40B4-BE49-F238E27FC236}">
                <a16:creationId xmlns:a16="http://schemas.microsoft.com/office/drawing/2014/main" id="{AC0BA9AE-EC04-47FF-A40B-8CD16817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</p:spTree>
    <p:extLst>
      <p:ext uri="{BB962C8B-B14F-4D97-AF65-F5344CB8AC3E}">
        <p14:creationId xmlns:p14="http://schemas.microsoft.com/office/powerpoint/2010/main" val="69460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E2C0E10C-2A97-4BF2-B769-CAAE294B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KONTEKS MASALAH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F6CB87-A81E-4BF1-8079-3AA18F7E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Mengapa aset dan data perlu dirancang bersama?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18051-EFC3-49B9-BFC2-9A90B7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9436757-6CF5-464B-81AC-E0A7A63D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421AD941-773E-4F4B-A8F4-EFEDFF0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55633632-286F-4F26-9B89-7F3FD78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Denah virtual membutuhkan representasi gedung yang mudah dikenali dan kode lokasi yang konsisten agar informasi pada database dapat menemukan objek tujuan di Unity.</a:t>
            </a:r>
          </a:p>
        </p:txBody>
      </p:sp>
      <p:sp>
        <p:nvSpPr>
          <p:cNvPr id="7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634BF30-851F-4A7E-A12E-068D2911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5EA9640-BB05-4323-9E47-71626DBD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539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Aset 3D harus memiliki geometri, material, hierarki, dan nama objek yang tertata.</a:t>
            </a:r>
          </a:p>
        </p:txBody>
      </p:sp>
      <p:sp>
        <p:nvSpPr>
          <p:cNvPr id="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CC3224E-ADDD-422B-B8C8-8E313406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CAE5FA1F-D393-41F1-A568-5CA08813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539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Data gedung dan fasilitas perlu memiliki relasi yang dapat ditelusuri melalui ERD.</a:t>
            </a:r>
          </a:p>
        </p:txBody>
      </p:sp>
      <p:sp>
        <p:nvSpPr>
          <p:cNvPr id="1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A85045F-1C28-46C2-8BBD-550C2B82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98B4F4D3-95D0-4FE1-82AE-881EF820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539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unity_object_name menjadi jembatan antara record database dan GameObject di scene.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C5D35-ACF7-41BB-8CCB-A1E23EE4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381000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1b83033ff43b4"/>
          <a:stretch xmlns:a="http://schemas.openxmlformats.org/drawingml/2006/main"/>
        </p:blipFill>
        <p:spPr>
          <a:xfrm xmlns:a="http://schemas.openxmlformats.org/drawingml/2006/main">
            <a:off x="7794941" y="2047875"/>
            <a:ext cx="2698119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</p:spTree>
    <p:extLst>
      <p:ext uri="{BB962C8B-B14F-4D97-AF65-F5344CB8AC3E}">
        <p14:creationId xmlns:p14="http://schemas.microsoft.com/office/powerpoint/2010/main" val="59273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E5C8EA1D-B48F-4136-89B3-627FB2F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RUANG LINGKUP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3213F2-C279-449A-A87F-2273360B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Batas kontribusi Dwikhi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71BF4-2021-4AD6-81B5-98786659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5665DEB-2BB3-434D-A0BA-6CE87B2B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11A0AF25-B9A2-4F38-8CD4-4504B0C7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BDE35-DECE-4EEF-83F1-9D67B968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in-scope-title">
            <a:extLst xmlns:a="http://schemas.openxmlformats.org/drawingml/2006/main">
              <a:ext uri="{FF2B5EF4-FFF2-40B4-BE49-F238E27FC236}">
                <a16:creationId xmlns:a16="http://schemas.microsoft.com/office/drawing/2014/main" id="{243C83B5-F1B0-43BC-82E4-F219D40B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957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9570"/>
                </a:solidFill>
                <a:latin typeface="Arial"/>
                <a:ea typeface="Arial"/>
                <a:cs typeface="Arial"/>
              </a:rPr>
              <a:t>Dikerjakan</a:t>
            </a:r>
          </a:p>
        </p:txBody>
      </p:sp>
      <p:sp>
        <p:nvSpPr>
          <p:cNvPr id="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15149DF-8F07-449E-830C-AFE8AF1D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62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2B09EDC7-750B-417A-9CB8-1135F0D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4057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Seluruh asset 3D yang memiliki GameObject pada scene.</a:t>
            </a:r>
          </a:p>
        </p:txBody>
      </p:sp>
      <p:sp>
        <p:nvSpPr>
          <p:cNvPr id="1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385B1CA-8FC3-403F-892C-E50F678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37E40608-93B8-4BDF-814E-54151DA9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7025"/>
            <a:ext cx="4057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Prefab, hierarki, child Pointer, dan nama GameObject tujuan.</a:t>
            </a:r>
          </a:p>
        </p:txBody>
      </p:sp>
      <p:sp>
        <p:nvSpPr>
          <p:cNvPr id="1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A0DE1D75-9C54-4C56-8C5C-2F0E335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EF822FDF-12A7-4527-BA4C-DFD6B148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4057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ERD, skema database, seed, pengelolaan record gedung/fasilitas.</a:t>
            </a:r>
          </a:p>
        </p:txBody>
      </p:sp>
      <p:sp>
        <p:nvSpPr>
          <p:cNvPr id="1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45BBFF2F-53D6-474F-B17B-613D4D00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C8A9D346-8AFF-4432-92EB-61DF369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48075"/>
            <a:ext cx="4057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Penetapan serta perbaikan unity_object_name.</a:t>
            </a:r>
          </a:p>
        </p:txBody>
      </p:sp>
      <p:sp>
        <p:nvSpPr>
          <p:cNvPr id="16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7BCEB815-C086-4FAD-8BA2-E2A4ECD8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4">
            <a:extLst xmlns:a="http://schemas.openxmlformats.org/drawingml/2006/main">
              <a:ext uri="{FF2B5EF4-FFF2-40B4-BE49-F238E27FC236}">
                <a16:creationId xmlns:a16="http://schemas.microsoft.com/office/drawing/2014/main" id="{C1E36770-9D96-4F16-8DEC-97A4725F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4057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Validasi memakai DatabaseSyncChecker buatan Faiz.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BF9B0-0D13-491B-8FE4-4F559FD9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857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7EC"/>
          </a:solidFill>
          <a:ln xmlns:a="http://schemas.openxmlformats.org/drawingml/2006/main" w="9525">
            <a:solidFill>
              <a:srgbClr val="F0D7B5"/>
            </a:solidFill>
            <a:prstDash val="solid"/>
          </a:ln>
        </p:spPr>
      </p:sp>
      <p:sp>
        <p:nvSpPr>
          <p:cNvPr id="19" name="out-title">
            <a:extLst xmlns:a="http://schemas.openxmlformats.org/drawingml/2006/main">
              <a:ext uri="{FF2B5EF4-FFF2-40B4-BE49-F238E27FC236}">
                <a16:creationId xmlns:a16="http://schemas.microsoft.com/office/drawing/2014/main" id="{FC58C331-2C9C-43AB-A8A6-B267301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90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902F"/>
                </a:solidFill>
                <a:latin typeface="Arial"/>
                <a:ea typeface="Arial"/>
                <a:cs typeface="Arial"/>
              </a:rPr>
              <a:t>Di luar implementasi utama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73544C6-AE9F-4E38-869F-303EF29A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57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4C759D1C-A45A-4FE5-A8DB-4B39787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API, dashboard, autentikasi, dan integrasi React–Unity.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E360381-17EC-4ED8-B13A-0A2267ED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52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9D9012C0-DF02-4335-AA70-340E6205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NavMesh, navigasi, optimasi engine, dan runtime Unity.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D00D095-6968-4AB2-A073-1B335B13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48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E4D384CF-2D01-4A17-9B8D-7631E6A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SQL produksi RLS serta trigger audit database tanpa bukti eksekusi.</a:t>
            </a:r>
          </a:p>
        </p:txBody>
      </p:sp>
    </p:spTree>
    <p:extLst>
      <p:ext uri="{BB962C8B-B14F-4D97-AF65-F5344CB8AC3E}">
        <p14:creationId xmlns:p14="http://schemas.microsoft.com/office/powerpoint/2010/main" val="1341128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98175662-AD0B-4D2A-8E45-782929D8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METODE DAN PROSES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370C39-A59B-4074-A4AE-6A71D6B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Alur pengerjaan enam bulan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ED9C0-E3CC-4CE4-99A9-D9F7452C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8CEC679-1DC9-417E-B526-B1A5DFD2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28648C60-EBFE-40C3-8AD6-8667C44D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process-0">
            <a:extLst xmlns:a="http://schemas.openxmlformats.org/drawingml/2006/main">
              <a:ext uri="{FF2B5EF4-FFF2-40B4-BE49-F238E27FC236}">
                <a16:creationId xmlns:a16="http://schemas.microsoft.com/office/drawing/2014/main" id="{76FDF6EF-A922-4BAF-9DFC-A1225384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2247900" cy="26670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process-num-0">
            <a:extLst xmlns:a="http://schemas.openxmlformats.org/drawingml/2006/main">
              <a:ext uri="{FF2B5EF4-FFF2-40B4-BE49-F238E27FC236}">
                <a16:creationId xmlns:a16="http://schemas.microsoft.com/office/drawing/2014/main" id="{EFE08A03-D72E-46C8-8882-FC6AF857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398F8292-C61A-4E43-904F-A4D0B6F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Observasi</a:t>
            </a:r>
          </a:p>
        </p:txBody>
      </p:sp>
      <p:sp>
        <p:nvSpPr>
          <p:cNvPr id="9" name="process-copy-0">
            <a:extLst xmlns:a="http://schemas.openxmlformats.org/drawingml/2006/main">
              <a:ext uri="{FF2B5EF4-FFF2-40B4-BE49-F238E27FC236}">
                <a16:creationId xmlns:a16="http://schemas.microsoft.com/office/drawing/2014/main" id="{528D3A00-7498-44C0-8B88-B7DBE96D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56274"/>
                </a:solidFill>
                <a:latin typeface="Arial"/>
                <a:ea typeface="Arial"/>
                <a:cs typeface="Arial"/>
              </a:rPr>
              <a:t>Foto kondisi aktual, wawancara, dan identifikasi kebutuhan.</a:t>
            </a:r>
          </a:p>
        </p:txBody>
      </p:sp>
      <p:sp>
        <p:nvSpPr>
          <p:cNvPr id="10" name="process-arrow-0">
            <a:extLst xmlns:a="http://schemas.openxmlformats.org/drawingml/2006/main">
              <a:ext uri="{FF2B5EF4-FFF2-40B4-BE49-F238E27FC236}">
                <a16:creationId xmlns:a16="http://schemas.microsoft.com/office/drawing/2014/main" id="{AF65E075-4C8F-441F-A6E0-DE96C5CA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289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rocess-1">
            <a:extLst xmlns:a="http://schemas.openxmlformats.org/drawingml/2006/main">
              <a:ext uri="{FF2B5EF4-FFF2-40B4-BE49-F238E27FC236}">
                <a16:creationId xmlns:a16="http://schemas.microsoft.com/office/drawing/2014/main" id="{8E0E6149-E190-47D1-929D-C4FA6F0B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81200"/>
            <a:ext cx="2247900" cy="26670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" name="process-num-1">
            <a:extLst xmlns:a="http://schemas.openxmlformats.org/drawingml/2006/main">
              <a:ext uri="{FF2B5EF4-FFF2-40B4-BE49-F238E27FC236}">
                <a16:creationId xmlns:a16="http://schemas.microsoft.com/office/drawing/2014/main" id="{FA41F373-D229-40EF-9E2F-B0882B64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F1563491-19CF-45F3-8F34-C1EEC75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9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Rancang</a:t>
            </a:r>
          </a:p>
        </p:txBody>
      </p:sp>
      <p:sp>
        <p:nvSpPr>
          <p:cNvPr id="14" name="process-copy-1">
            <a:extLst xmlns:a="http://schemas.openxmlformats.org/drawingml/2006/main">
              <a:ext uri="{FF2B5EF4-FFF2-40B4-BE49-F238E27FC236}">
                <a16:creationId xmlns:a16="http://schemas.microsoft.com/office/drawing/2014/main" id="{255523A9-D7B1-4908-93EB-A61C9822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81375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56274"/>
                </a:solidFill>
                <a:latin typeface="Arial"/>
                <a:ea typeface="Arial"/>
                <a:cs typeface="Arial"/>
              </a:rPr>
              <a:t>ERD, skema data, konvensi nama, dan hierarki prefab.</a:t>
            </a:r>
          </a:p>
        </p:txBody>
      </p:sp>
      <p:sp>
        <p:nvSpPr>
          <p:cNvPr id="15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C7467D07-F533-47FB-86FD-12B86E48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0289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process-2">
            <a:extLst xmlns:a="http://schemas.openxmlformats.org/drawingml/2006/main">
              <a:ext uri="{FF2B5EF4-FFF2-40B4-BE49-F238E27FC236}">
                <a16:creationId xmlns:a16="http://schemas.microsoft.com/office/drawing/2014/main" id="{31311AE0-26B5-43CE-B494-32C4B6F7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247900" cy="26670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process-num-2">
            <a:extLst xmlns:a="http://schemas.openxmlformats.org/drawingml/2006/main">
              <a:ext uri="{FF2B5EF4-FFF2-40B4-BE49-F238E27FC236}">
                <a16:creationId xmlns:a16="http://schemas.microsoft.com/office/drawing/2014/main" id="{67D95B9F-2427-4917-8D5E-428578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6313E67D-5DD7-4208-8CF8-E0258F6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9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Bangun</a:t>
            </a:r>
          </a:p>
        </p:txBody>
      </p:sp>
      <p:sp>
        <p:nvSpPr>
          <p:cNvPr id="19" name="process-copy-2">
            <a:extLst xmlns:a="http://schemas.openxmlformats.org/drawingml/2006/main">
              <a:ext uri="{FF2B5EF4-FFF2-40B4-BE49-F238E27FC236}">
                <a16:creationId xmlns:a16="http://schemas.microsoft.com/office/drawing/2014/main" id="{38CBE9A8-68E8-4D40-8842-94877EDE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81375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56274"/>
                </a:solidFill>
                <a:latin typeface="Arial"/>
                <a:ea typeface="Arial"/>
                <a:cs typeface="Arial"/>
              </a:rPr>
              <a:t>Geometri, material, tekstur, Pointer, serta seed data.</a:t>
            </a:r>
          </a:p>
        </p:txBody>
      </p:sp>
      <p:sp>
        <p:nvSpPr>
          <p:cNvPr id="20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8A5E4413-944C-4EF6-AC79-3456E538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289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process-3">
            <a:extLst xmlns:a="http://schemas.openxmlformats.org/drawingml/2006/main">
              <a:ext uri="{FF2B5EF4-FFF2-40B4-BE49-F238E27FC236}">
                <a16:creationId xmlns:a16="http://schemas.microsoft.com/office/drawing/2014/main" id="{F9ACCE42-31B7-4784-9BAB-308FA885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247900" cy="26670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2" name="process-num-3">
            <a:extLst xmlns:a="http://schemas.openxmlformats.org/drawingml/2006/main">
              <a:ext uri="{FF2B5EF4-FFF2-40B4-BE49-F238E27FC236}">
                <a16:creationId xmlns:a16="http://schemas.microsoft.com/office/drawing/2014/main" id="{9485AD58-E449-4CA0-AB5C-B329087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65776E39-D141-45A6-8D48-8D30BF1C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24" name="process-copy-3">
            <a:extLst xmlns:a="http://schemas.openxmlformats.org/drawingml/2006/main">
              <a:ext uri="{FF2B5EF4-FFF2-40B4-BE49-F238E27FC236}">
                <a16:creationId xmlns:a16="http://schemas.microsoft.com/office/drawing/2014/main" id="{CAE3923F-2642-4B00-B2F9-94D9D9DC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56274"/>
                </a:solidFill>
                <a:latin typeface="Arial"/>
                <a:ea typeface="Arial"/>
                <a:cs typeface="Arial"/>
              </a:rPr>
              <a:t>Pemeriksaan aset, constraint, dan pemetaan nama.</a:t>
            </a:r>
          </a:p>
        </p:txBody>
      </p:sp>
      <p:sp>
        <p:nvSpPr>
          <p:cNvPr id="25" name="process-note">
            <a:extLst xmlns:a="http://schemas.openxmlformats.org/drawingml/2006/main">
              <a:ext uri="{FF2B5EF4-FFF2-40B4-BE49-F238E27FC236}">
                <a16:creationId xmlns:a16="http://schemas.microsoft.com/office/drawing/2014/main" id="{6EF30CF5-91BD-4622-826F-0303721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6274"/>
                </a:solidFill>
                <a:latin typeface="Arial"/>
                <a:ea typeface="Arial"/>
                <a:cs typeface="Arial"/>
              </a:rPr>
              <a:t>Pengerjaan menggunakan Unity Editor sebagai alat utama; sebagian objek pendukung dibuat dengan Blender. Dokumentasi bersifat visual dan tidak menggantikan pengukuran arsitektural.</a:t>
            </a:r>
          </a:p>
        </p:txBody>
      </p:sp>
    </p:spTree>
    <p:extLst>
      <p:ext uri="{BB962C8B-B14F-4D97-AF65-F5344CB8AC3E}">
        <p14:creationId xmlns:p14="http://schemas.microsoft.com/office/powerpoint/2010/main" val="1932046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DBE6AC2-0728-4A82-B97C-A7FA1873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IMPLEMENTASI 3D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F01BEE-9875-4813-B1C6-09B776ED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Bukti aset dan hierarki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1A649-5A10-4478-A06B-D6C42017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BFFC395-379D-4824-9991-EFA9CB73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01A8C232-A818-4061-9975-F6A0B2F4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85177789b489b"/>
          <a:stretch xmlns:a="http://schemas.openxmlformats.org/drawingml/2006/main"/>
        </p:blipFill>
        <p:spPr>
          <a:xfrm xmlns:a="http://schemas.openxmlformats.org/drawingml/2006/main">
            <a:off x="685800" y="2012589"/>
            <a:ext cx="4953000" cy="2966172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a7228253347d8"/>
          <a:stretch xmlns:a="http://schemas.openxmlformats.org/drawingml/2006/main"/>
        </p:blipFill>
        <p:spPr>
          <a:xfrm xmlns:a="http://schemas.openxmlformats.org/drawingml/2006/main">
            <a:off x="6191250" y="2079210"/>
            <a:ext cx="4857750" cy="2832931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8" name="asset-evidence-note">
            <a:extLst xmlns:a="http://schemas.openxmlformats.org/drawingml/2006/main">
              <a:ext uri="{FF2B5EF4-FFF2-40B4-BE49-F238E27FC236}">
                <a16:creationId xmlns:a16="http://schemas.microsoft.com/office/drawing/2014/main" id="{9938475F-8DC3-46AF-92E1-94E5949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6274"/>
                </a:solidFill>
                <a:latin typeface="Arial"/>
                <a:ea typeface="Arial"/>
                <a:cs typeface="Arial"/>
              </a:rPr>
              <a:t>Sampel dokumentasi menunjukkan pemisahan antara render aset dan hierarki prefab. Pola ini digunakan untuk menelusuri parent–child, Pointer, serta GameObject tujuan.</a:t>
            </a:r>
          </a:p>
        </p:txBody>
      </p:sp>
    </p:spTree>
    <p:extLst>
      <p:ext uri="{BB962C8B-B14F-4D97-AF65-F5344CB8AC3E}">
        <p14:creationId xmlns:p14="http://schemas.microsoft.com/office/powerpoint/2010/main" val="374090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BEFB99A6-B74F-4E97-BE9D-FE815495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IMPLEMENTASI DATABASE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474793-FFEE-4C0F-ACB9-D7E0149E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Skema data sebagai fondasi integrasi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CE1EB-D4FB-4497-8F89-27413D4E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7265DD7-4A91-4C4B-AEA2-F241E537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40AD9883-D2B4-4A7D-A105-94317ECD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a1105f0ad4f16"/>
          <a:stretch xmlns:a="http://schemas.openxmlformats.org/drawingml/2006/main"/>
        </p:blipFill>
        <p:spPr>
          <a:xfrm xmlns:a="http://schemas.openxmlformats.org/drawingml/2006/main">
            <a:off x="1746045" y="1733550"/>
            <a:ext cx="340401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EB1BC-3EE9-4578-B47B-75AD49A9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1910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8" name="data-title">
            <a:extLst xmlns:a="http://schemas.openxmlformats.org/drawingml/2006/main">
              <a:ext uri="{FF2B5EF4-FFF2-40B4-BE49-F238E27FC236}">
                <a16:creationId xmlns:a16="http://schemas.microsoft.com/office/drawing/2014/main" id="{90F4A22B-DD98-4A69-B6AE-A1E9EEF8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Ringkasan data</a:t>
            </a:r>
          </a:p>
        </p:txBody>
      </p:sp>
      <p:sp>
        <p:nvSpPr>
          <p:cNvPr id="9" name="metric-entitas gedung">
            <a:extLst xmlns:a="http://schemas.openxmlformats.org/drawingml/2006/main">
              <a:ext uri="{FF2B5EF4-FFF2-40B4-BE49-F238E27FC236}">
                <a16:creationId xmlns:a16="http://schemas.microsoft.com/office/drawing/2014/main" id="{0BFA2CF0-B3C9-445C-BCD4-5B573C4A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1619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metric-value-entitas gedung">
            <a:extLst xmlns:a="http://schemas.openxmlformats.org/drawingml/2006/main">
              <a:ext uri="{FF2B5EF4-FFF2-40B4-BE49-F238E27FC236}">
                <a16:creationId xmlns:a16="http://schemas.microsoft.com/office/drawing/2014/main" id="{D8A57023-C4C4-4F95-AB8C-40EFFF72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1" name="metric-label-entitas gedung">
            <a:extLst xmlns:a="http://schemas.openxmlformats.org/drawingml/2006/main">
              <a:ext uri="{FF2B5EF4-FFF2-40B4-BE49-F238E27FC236}">
                <a16:creationId xmlns:a16="http://schemas.microsoft.com/office/drawing/2014/main" id="{949F509D-D5F1-40F9-8D96-D6AC6316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95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entitas gedung</a:t>
            </a:r>
          </a:p>
        </p:txBody>
      </p:sp>
      <p:sp>
        <p:nvSpPr>
          <p:cNvPr id="12" name="metric-fasilitas pada seed">
            <a:extLst xmlns:a="http://schemas.openxmlformats.org/drawingml/2006/main">
              <a:ext uri="{FF2B5EF4-FFF2-40B4-BE49-F238E27FC236}">
                <a16:creationId xmlns:a16="http://schemas.microsoft.com/office/drawing/2014/main" id="{0E801973-D27B-4742-B011-6C388E2B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619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metric-value-fasilitas pada seed">
            <a:extLst xmlns:a="http://schemas.openxmlformats.org/drawingml/2006/main">
              <a:ext uri="{FF2B5EF4-FFF2-40B4-BE49-F238E27FC236}">
                <a16:creationId xmlns:a16="http://schemas.microsoft.com/office/drawing/2014/main" id="{3C1FBF8B-E5A2-4D9B-BA75-640041A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95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9570"/>
                </a:solidFill>
                <a:latin typeface="Arial"/>
                <a:ea typeface="Arial"/>
                <a:cs typeface="Arial"/>
              </a:rPr>
              <a:t>311</a:t>
            </a:r>
          </a:p>
        </p:txBody>
      </p:sp>
      <p:sp>
        <p:nvSpPr>
          <p:cNvPr id="14" name="metric-label-fasilitas pada seed">
            <a:extLst xmlns:a="http://schemas.openxmlformats.org/drawingml/2006/main">
              <a:ext uri="{FF2B5EF4-FFF2-40B4-BE49-F238E27FC236}">
                <a16:creationId xmlns:a16="http://schemas.microsoft.com/office/drawing/2014/main" id="{894E8BB0-B3DB-472A-9076-B22FACD8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95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fasilitas pada seed</a:t>
            </a:r>
          </a:p>
        </p:txBody>
      </p:sp>
      <p:sp>
        <p:nvSpPr>
          <p:cNvPr id="1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2EF09B4-164C-414A-B5D3-0BE403CA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81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0">
            <a:extLst xmlns:a="http://schemas.openxmlformats.org/drawingml/2006/main">
              <a:ext uri="{FF2B5EF4-FFF2-40B4-BE49-F238E27FC236}">
                <a16:creationId xmlns:a16="http://schemas.microsoft.com/office/drawing/2014/main" id="{1A5AB4B1-7988-4705-AC26-E3E520E0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95750"/>
            <a:ext cx="3295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ERD menggambarkan entitas dan relasi.</a:t>
            </a:r>
          </a:p>
        </p:txBody>
      </p:sp>
      <p:sp>
        <p:nvSpPr>
          <p:cNvPr id="17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96FBE6B-0720-465E-A8E5-5CCE1F46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05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1">
            <a:extLst xmlns:a="http://schemas.openxmlformats.org/drawingml/2006/main">
              <a:ext uri="{FF2B5EF4-FFF2-40B4-BE49-F238E27FC236}">
                <a16:creationId xmlns:a16="http://schemas.microsoft.com/office/drawing/2014/main" id="{CD774758-159F-41EA-8BC5-EC70CFCC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3295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Record gedung/fasilitas dikelola agar dapat dipetakan.</a:t>
            </a:r>
          </a:p>
        </p:txBody>
      </p:sp>
      <p:sp>
        <p:nvSpPr>
          <p:cNvPr id="19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6AA9D95-7A49-4619-A802-3260253D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29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">
            <a:extLst xmlns:a="http://schemas.openxmlformats.org/drawingml/2006/main">
              <a:ext uri="{FF2B5EF4-FFF2-40B4-BE49-F238E27FC236}">
                <a16:creationId xmlns:a16="http://schemas.microsoft.com/office/drawing/2014/main" id="{EC131330-F24B-41FB-897E-1EE45F27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43450"/>
            <a:ext cx="3295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Kecocokan nama pada database dan scene masih perlu validasi akhir.</a:t>
            </a:r>
          </a:p>
        </p:txBody>
      </p:sp>
    </p:spTree>
    <p:extLst>
      <p:ext uri="{BB962C8B-B14F-4D97-AF65-F5344CB8AC3E}">
        <p14:creationId xmlns:p14="http://schemas.microsoft.com/office/powerpoint/2010/main" val="1593518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0728AD70-AD20-47B0-B869-640E593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SPESIFIKASI ASET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545F54-E230-4617-8BC1-AAB1698B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Metrik teknis: bukti untuk keputusan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BDCC9-1CE0-4A01-B5A8-AE3820FF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11AE8D9-F316-45F6-8519-0CCC70C7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AF967367-2064-40CB-90AC-A78D6A61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cdd2e0d404698"/>
          <a:stretch xmlns:a="http://schemas.openxmlformats.org/drawingml/2006/main"/>
        </p:blipFill>
        <p:spPr>
          <a:xfrm xmlns:a="http://schemas.openxmlformats.org/drawingml/2006/main">
            <a:off x="685800" y="2334939"/>
            <a:ext cx="5143500" cy="243577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metric-copy">
            <a:extLst xmlns:a="http://schemas.openxmlformats.org/drawingml/2006/main">
              <a:ext uri="{FF2B5EF4-FFF2-40B4-BE49-F238E27FC236}">
                <a16:creationId xmlns:a16="http://schemas.microsoft.com/office/drawing/2014/main" id="{7C377EA3-D2AB-4259-BA85-1E608BD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81200"/>
            <a:ext cx="4381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Pemeriksaan vertex, triangle, mesh, material, tekstur, collider, dan ukuran prefab dipakai sebagai inventaris teknis. Tiga screenshot di BAB III berfungsi sebagai contoh; inventaris lengkap berada di lampiran.</a:t>
            </a:r>
          </a:p>
        </p:txBody>
      </p:sp>
      <p:sp>
        <p:nvSpPr>
          <p:cNvPr id="8" name="metric-asset kanonik">
            <a:extLst xmlns:a="http://schemas.openxmlformats.org/drawingml/2006/main">
              <a:ext uri="{FF2B5EF4-FFF2-40B4-BE49-F238E27FC236}">
                <a16:creationId xmlns:a16="http://schemas.microsoft.com/office/drawing/2014/main" id="{5659D928-2205-4D11-A25C-70D1D1A6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1809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metric-value-asset kanonik">
            <a:extLst xmlns:a="http://schemas.openxmlformats.org/drawingml/2006/main">
              <a:ext uri="{FF2B5EF4-FFF2-40B4-BE49-F238E27FC236}">
                <a16:creationId xmlns:a16="http://schemas.microsoft.com/office/drawing/2014/main" id="{3F772A1C-4935-4563-9883-150D2EE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" name="metric-label-asset kanonik">
            <a:extLst xmlns:a="http://schemas.openxmlformats.org/drawingml/2006/main">
              <a:ext uri="{FF2B5EF4-FFF2-40B4-BE49-F238E27FC236}">
                <a16:creationId xmlns:a16="http://schemas.microsoft.com/office/drawing/2014/main" id="{67ABB180-6CD2-4B86-826E-1823D326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asset kanonik</a:t>
            </a:r>
          </a:p>
        </p:txBody>
      </p:sp>
      <p:sp>
        <p:nvSpPr>
          <p:cNvPr id="11" name="metric-foto referensi">
            <a:extLst xmlns:a="http://schemas.openxmlformats.org/drawingml/2006/main">
              <a:ext uri="{FF2B5EF4-FFF2-40B4-BE49-F238E27FC236}">
                <a16:creationId xmlns:a16="http://schemas.microsoft.com/office/drawing/2014/main" id="{53E249B0-3AF4-485C-B6B0-EA5E087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1809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" name="metric-value-foto referensi">
            <a:extLst xmlns:a="http://schemas.openxmlformats.org/drawingml/2006/main">
              <a:ext uri="{FF2B5EF4-FFF2-40B4-BE49-F238E27FC236}">
                <a16:creationId xmlns:a16="http://schemas.microsoft.com/office/drawing/2014/main" id="{460B1CC6-A32D-4CB6-A922-3D2EA858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767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95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957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3" name="metric-label-foto referensi">
            <a:extLst xmlns:a="http://schemas.openxmlformats.org/drawingml/2006/main">
              <a:ext uri="{FF2B5EF4-FFF2-40B4-BE49-F238E27FC236}">
                <a16:creationId xmlns:a16="http://schemas.microsoft.com/office/drawing/2014/main" id="{99563328-6199-4E01-BEC4-77504EB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foto referensi</a:t>
            </a:r>
          </a:p>
        </p:txBody>
      </p:sp>
    </p:spTree>
    <p:extLst>
      <p:ext uri="{BB962C8B-B14F-4D97-AF65-F5344CB8AC3E}">
        <p14:creationId xmlns:p14="http://schemas.microsoft.com/office/powerpoint/2010/main" val="536779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CD15C63-17FC-453D-8E80-9B5BA440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910A43-4980-41D6-B19F-81F7652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Hasil pengujian dan batas kesimpulan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A7F0D-6E3F-425F-950D-1621C504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AD308CA-8DA7-4FF3-8416-0C67EE4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9550DA9A-013D-45D4-AFBC-EA9ACB5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metric-Black Box final">
            <a:extLst xmlns:a="http://schemas.openxmlformats.org/drawingml/2006/main">
              <a:ext uri="{FF2B5EF4-FFF2-40B4-BE49-F238E27FC236}">
                <a16:creationId xmlns:a16="http://schemas.microsoft.com/office/drawing/2014/main" id="{5DF9862F-A03E-47D0-856F-91067E92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190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metric-value-Black Box final">
            <a:extLst xmlns:a="http://schemas.openxmlformats.org/drawingml/2006/main">
              <a:ext uri="{FF2B5EF4-FFF2-40B4-BE49-F238E27FC236}">
                <a16:creationId xmlns:a16="http://schemas.microsoft.com/office/drawing/2014/main" id="{B5C520E8-DCAE-477F-A379-B1FBFB79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95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9570"/>
                </a:solidFill>
                <a:latin typeface="Arial"/>
                <a:ea typeface="Arial"/>
                <a:cs typeface="Arial"/>
              </a:rPr>
              <a:t>24/24</a:t>
            </a:r>
          </a:p>
        </p:txBody>
      </p:sp>
      <p:sp>
        <p:nvSpPr>
          <p:cNvPr id="8" name="metric-label-Black Box final">
            <a:extLst xmlns:a="http://schemas.openxmlformats.org/drawingml/2006/main">
              <a:ext uri="{FF2B5EF4-FFF2-40B4-BE49-F238E27FC236}">
                <a16:creationId xmlns:a16="http://schemas.microsoft.com/office/drawing/2014/main" id="{CE2DE2FE-2433-48BE-BB84-AE089EB4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Black Box final</a:t>
            </a:r>
          </a:p>
        </p:txBody>
      </p:sp>
      <p:sp>
        <p:nvSpPr>
          <p:cNvPr id="9" name="metric-UAT gabungan">
            <a:extLst xmlns:a="http://schemas.openxmlformats.org/drawingml/2006/main">
              <a:ext uri="{FF2B5EF4-FFF2-40B4-BE49-F238E27FC236}">
                <a16:creationId xmlns:a16="http://schemas.microsoft.com/office/drawing/2014/main" id="{CC3D06D9-AC11-49DD-B95D-5A25EB49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09750"/>
            <a:ext cx="2190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metric-value-UAT gabungan">
            <a:extLst xmlns:a="http://schemas.openxmlformats.org/drawingml/2006/main">
              <a:ext uri="{FF2B5EF4-FFF2-40B4-BE49-F238E27FC236}">
                <a16:creationId xmlns:a16="http://schemas.microsoft.com/office/drawing/2014/main" id="{C6FD2421-E064-4E10-99A4-C739642C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81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81,50%</a:t>
            </a:r>
          </a:p>
        </p:txBody>
      </p:sp>
      <p:sp>
        <p:nvSpPr>
          <p:cNvPr id="11" name="metric-label-UAT gabungan">
            <a:extLst xmlns:a="http://schemas.openxmlformats.org/drawingml/2006/main">
              <a:ext uri="{FF2B5EF4-FFF2-40B4-BE49-F238E27FC236}">
                <a16:creationId xmlns:a16="http://schemas.microsoft.com/office/drawing/2014/main" id="{1AFF129B-2307-4CA2-B0DB-AE11B991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52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UAT gabungan</a:t>
            </a:r>
          </a:p>
        </p:txBody>
      </p:sp>
      <p:sp>
        <p:nvSpPr>
          <p:cNvPr id="12" name="metric-hasil sync tersedia">
            <a:extLst xmlns:a="http://schemas.openxmlformats.org/drawingml/2006/main">
              <a:ext uri="{FF2B5EF4-FFF2-40B4-BE49-F238E27FC236}">
                <a16:creationId xmlns:a16="http://schemas.microsoft.com/office/drawing/2014/main" id="{758D86F2-BB3F-48F2-A002-A6BF90A9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190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metric-value-hasil sync tersedia">
            <a:extLst xmlns:a="http://schemas.openxmlformats.org/drawingml/2006/main">
              <a:ext uri="{FF2B5EF4-FFF2-40B4-BE49-F238E27FC236}">
                <a16:creationId xmlns:a16="http://schemas.microsoft.com/office/drawing/2014/main" id="{FD9E5A16-59A5-4FE5-B656-89F18D17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90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90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metric-label-hasil sync tersedia">
            <a:extLst xmlns:a="http://schemas.openxmlformats.org/drawingml/2006/main">
              <a:ext uri="{FF2B5EF4-FFF2-40B4-BE49-F238E27FC236}">
                <a16:creationId xmlns:a16="http://schemas.microsoft.com/office/drawing/2014/main" id="{970E2003-8FA5-42D6-BAD6-A2C1E316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hasil sync tersedia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2AD2D-89C8-4234-9178-E67FC34B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27622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7EC"/>
          </a:solidFill>
          <a:ln xmlns:a="http://schemas.openxmlformats.org/drawingml/2006/main" w="9525">
            <a:solidFill>
              <a:srgbClr val="F0D7B5"/>
            </a:solidFill>
            <a:prstDash val="solid"/>
          </a:ln>
        </p:spPr>
      </p:sp>
      <p:sp>
        <p:nvSpPr>
          <p:cNvPr id="16" name="note-title">
            <a:extLst xmlns:a="http://schemas.openxmlformats.org/drawingml/2006/main">
              <a:ext uri="{FF2B5EF4-FFF2-40B4-BE49-F238E27FC236}">
                <a16:creationId xmlns:a16="http://schemas.microsoft.com/office/drawing/2014/main" id="{370F3C3C-139F-4B30-9504-C805E487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38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90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902F"/>
                </a:solidFill>
                <a:latin typeface="Arial"/>
                <a:ea typeface="Arial"/>
                <a:cs typeface="Arial"/>
              </a:rPr>
              <a:t>Catatan</a:t>
            </a:r>
          </a:p>
        </p:txBody>
      </p:sp>
      <p:sp>
        <p:nvSpPr>
          <p:cNvPr id="17" name="note-copy">
            <a:extLst xmlns:a="http://schemas.openxmlformats.org/drawingml/2006/main">
              <a:ext uri="{FF2B5EF4-FFF2-40B4-BE49-F238E27FC236}">
                <a16:creationId xmlns:a16="http://schemas.microsoft.com/office/drawing/2014/main" id="{6AEAB545-FAFD-4B0F-93F7-B53B5731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003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Dua pemeriksaan tidak dapat diperlakukan sebagai sebelum–sesudah karena konteks uji tidak tercatat setara.</a:t>
            </a:r>
          </a:p>
        </p:txBody>
      </p:sp>
      <p:sp>
        <p:nvSpPr>
          <p:cNvPr id="18" name="validation-copy">
            <a:extLst xmlns:a="http://schemas.openxmlformats.org/drawingml/2006/main">
              <a:ext uri="{FF2B5EF4-FFF2-40B4-BE49-F238E27FC236}">
                <a16:creationId xmlns:a16="http://schemas.microsoft.com/office/drawing/2014/main" id="{8D63B5DD-4895-4CC0-BC2C-7715815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Kontribusi Dwikhi terhadap validasi adalah menindaklanjuti temuan pada pemetaan aset–data; kode DatabaseSyncChecker tetap milik Faiz.</a:t>
            </a:r>
          </a:p>
        </p:txBody>
      </p:sp>
      <p:sp>
        <p:nvSpPr>
          <p:cNvPr id="19" name="validation-status">
            <a:extLst xmlns:a="http://schemas.openxmlformats.org/drawingml/2006/main">
              <a:ext uri="{FF2B5EF4-FFF2-40B4-BE49-F238E27FC236}">
                <a16:creationId xmlns:a16="http://schemas.microsoft.com/office/drawing/2014/main" id="{240C8A70-2AED-4C05-87E3-5523079B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6274"/>
                </a:solidFill>
                <a:latin typeface="Arial"/>
                <a:ea typeface="Arial"/>
                <a:cs typeface="Arial"/>
              </a:rPr>
              <a:t>Status akhir: dokumentasi aset dan struktur data dapat ditelusuri, sementara bukti konsistensi penuh masih memerlukan retest dengan konteks yang sama.</a:t>
            </a:r>
          </a:p>
        </p:txBody>
      </p:sp>
    </p:spTree>
    <p:extLst>
      <p:ext uri="{BB962C8B-B14F-4D97-AF65-F5344CB8AC3E}">
        <p14:creationId xmlns:p14="http://schemas.microsoft.com/office/powerpoint/2010/main" val="591653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035011E6-1265-4165-8A98-56C78194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PENUTUP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569651-6DC6-4890-811D-8FD41527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Kontribusi utama dan tindak lanjut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D2573-70E9-43DA-8759-0512534D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9A1C090-2EB9-42AF-81B2-E8217E1B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Tugas_Akhir_Formatted.docx + Tugas_Akhir_Draft.md (laporan/dwikhi)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5D1E8AAB-0A5F-497F-8402-1ED623DB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F263D-8FF0-41F9-9C37-3B0CFB1F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953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ne-title">
            <a:extLst xmlns:a="http://schemas.openxmlformats.org/drawingml/2006/main">
              <a:ext uri="{FF2B5EF4-FFF2-40B4-BE49-F238E27FC236}">
                <a16:creationId xmlns:a16="http://schemas.microsoft.com/office/drawing/2014/main" id="{97A0C8AF-6BD2-440D-82D8-384E819F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Yang sudah dihasilkan</a:t>
            </a:r>
          </a:p>
        </p:txBody>
      </p:sp>
      <p:sp>
        <p:nvSpPr>
          <p:cNvPr id="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AB321DE5-44CF-4328-B84C-95567A1E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512F935F-2E65-4F97-A757-9A447527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19375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Inventaris dan render asset 3D.</a:t>
            </a:r>
          </a:p>
        </p:txBody>
      </p:sp>
      <p:sp>
        <p:nvSpPr>
          <p:cNvPr id="1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D9620E40-057D-4847-A335-F991DCE5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291A7427-4AC3-4363-8E7E-12667E03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19425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Prefab, Pointer, dan konvensi nama.</a:t>
            </a:r>
          </a:p>
        </p:txBody>
      </p:sp>
      <p:sp>
        <p:nvSpPr>
          <p:cNvPr id="1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EA0E16C-C652-46DE-A6DC-DBEB98D9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1BC7CC5B-ECCC-4553-88E0-5CFEA4A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ERD, seed, serta pengelolaan record.</a:t>
            </a:r>
          </a:p>
        </p:txBody>
      </p:sp>
      <p:sp>
        <p:nvSpPr>
          <p:cNvPr id="1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44321A15-99CC-48CD-B336-6C97E62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0D3A579F-1D52-4630-AA71-0E489CEF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Pemetaan kode lokasi Unity.</a:t>
            </a:r>
          </a:p>
        </p:txBody>
      </p:sp>
      <p:sp>
        <p:nvSpPr>
          <p:cNvPr id="16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F2B1DA77-75E3-47E9-9AE6-A4798A3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4">
            <a:extLst xmlns:a="http://schemas.openxmlformats.org/drawingml/2006/main">
              <a:ext uri="{FF2B5EF4-FFF2-40B4-BE49-F238E27FC236}">
                <a16:creationId xmlns:a16="http://schemas.microsoft.com/office/drawing/2014/main" id="{ADC3A68F-76B3-4CA5-968B-D41ABE85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9575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Bukti metrik dan dokumentasi visual.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C8C61-41B1-44BD-83D5-7050FA07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857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next-title">
            <a:extLst xmlns:a="http://schemas.openxmlformats.org/drawingml/2006/main">
              <a:ext uri="{FF2B5EF4-FFF2-40B4-BE49-F238E27FC236}">
                <a16:creationId xmlns:a16="http://schemas.microsoft.com/office/drawing/2014/main" id="{2FCB3471-7431-447E-8E1A-8E0AEA02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90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902F"/>
                </a:solidFill>
                <a:latin typeface="Arial"/>
                <a:ea typeface="Arial"/>
                <a:cs typeface="Arial"/>
              </a:rPr>
              <a:t>Sebelum final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D94F962-CA11-4826-AA0B-7D224952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E8C5A22F-9984-4AD5-A71E-B702D3F0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19375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Retest konsistensi dengan konteks yang setara.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7FE2065-304A-4D1C-A4DA-FBB517A9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ACC4223C-B725-4676-A5DD-BCC7E10C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14675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Lengkapi bukti Parkir Belakang yang belum tersedia.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0C5190F-CBBA-4D7C-AE80-728D4DF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2CE40A8E-C279-4609-8B43-AFD5A9A1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9975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Pertahankan penelusuran antara asset, data, dan nama objek.</a:t>
            </a:r>
          </a:p>
        </p:txBody>
      </p:sp>
      <p:sp>
        <p:nvSpPr>
          <p:cNvPr id="26" name="thanks">
            <a:extLst xmlns:a="http://schemas.openxmlformats.org/drawingml/2006/main">
              <a:ext uri="{FF2B5EF4-FFF2-40B4-BE49-F238E27FC236}">
                <a16:creationId xmlns:a16="http://schemas.microsoft.com/office/drawing/2014/main" id="{AACD6B6B-6BFE-49AE-BF5D-DA8B139F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232480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2026-07-23T15:39:32.4170000Z</dcterms:created>
  <dcterms:modified xsi:type="dcterms:W3CDTF">2026-07-23T15:39:32.4170000Z</dcterms:modified>
</coreProperties>
</file>