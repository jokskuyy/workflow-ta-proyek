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e789b624d47c9" /><Relationship Type="http://schemas.openxmlformats.org/officeDocument/2006/relationships/extended-properties" Target="/docProps/app.xml" Id="Rb5e6896858fc4eb6" /><Relationship Type="http://schemas.openxmlformats.org/officeDocument/2006/relationships/officeDocument" Target="/ppt/presentation.xml" Id="R2dd7ba1bd57f43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87f401995f412c"/>
  </p:sldMasterIdLst>
  <p:notesMasterIdLst>
    <p:notesMasterId xmlns:r="http://schemas.openxmlformats.org/officeDocument/2006/relationships" r:id="Rcd5492340a8e4a7a"/>
  </p:notesMasterIdLst>
  <p:sldIdLst>
    <p:sldId xmlns:r="http://schemas.openxmlformats.org/officeDocument/2006/relationships" id="256" r:id="Rcca02d7e04434e1d"/>
    <p:sldId xmlns:r="http://schemas.openxmlformats.org/officeDocument/2006/relationships" id="257" r:id="R7976504490104739"/>
    <p:sldId xmlns:r="http://schemas.openxmlformats.org/officeDocument/2006/relationships" id="258" r:id="Rbdd6155182214668"/>
    <p:sldId xmlns:r="http://schemas.openxmlformats.org/officeDocument/2006/relationships" id="259" r:id="R4b8b1e33cd61404d"/>
    <p:sldId xmlns:r="http://schemas.openxmlformats.org/officeDocument/2006/relationships" id="260" r:id="R4d5f55d139104cdc"/>
    <p:sldId xmlns:r="http://schemas.openxmlformats.org/officeDocument/2006/relationships" id="261" r:id="Rcd89d95d41ac421b"/>
    <p:sldId xmlns:r="http://schemas.openxmlformats.org/officeDocument/2006/relationships" id="262" r:id="R43d65f0cc1ce4018"/>
    <p:sldId xmlns:r="http://schemas.openxmlformats.org/officeDocument/2006/relationships" id="263" r:id="R38963d4903e24e3a"/>
    <p:sldId xmlns:r="http://schemas.openxmlformats.org/officeDocument/2006/relationships" id="264" r:id="R05680cd9b25f47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c65297a4d44f90" /><Relationship Type="http://schemas.openxmlformats.org/officeDocument/2006/relationships/slideMaster" Target="/ppt/slideMasters/slideMaster1.xml" Id="R3a87f401995f412c" /><Relationship Type="http://schemas.openxmlformats.org/officeDocument/2006/relationships/notesMaster" Target="/ppt/notesMasters/notesMaster1.xml" Id="Rcd5492340a8e4a7a" /><Relationship Type="http://schemas.openxmlformats.org/officeDocument/2006/relationships/presProps" Target="/ppt/presProps.xml" Id="R72e5e4e46811462f" /><Relationship Type="http://schemas.openxmlformats.org/officeDocument/2006/relationships/tableStyles" Target="/ppt/tableStyles.xml" Id="Ra3a7de7bc0e14342" /><Relationship Type="http://schemas.openxmlformats.org/officeDocument/2006/relationships/slide" Target="/ppt/slides/slide1.xml" Id="Rcca02d7e04434e1d" /><Relationship Type="http://schemas.openxmlformats.org/officeDocument/2006/relationships/slide" Target="/ppt/slides/slide2.xml" Id="R7976504490104739" /><Relationship Type="http://schemas.openxmlformats.org/officeDocument/2006/relationships/slide" Target="/ppt/slides/slide3.xml" Id="Rbdd6155182214668" /><Relationship Type="http://schemas.openxmlformats.org/officeDocument/2006/relationships/slide" Target="/ppt/slides/slide4.xml" Id="R4b8b1e33cd61404d" /><Relationship Type="http://schemas.openxmlformats.org/officeDocument/2006/relationships/slide" Target="/ppt/slides/slide5.xml" Id="R4d5f55d139104cdc" /><Relationship Type="http://schemas.openxmlformats.org/officeDocument/2006/relationships/slide" Target="/ppt/slides/slide6.xml" Id="Rcd89d95d41ac421b" /><Relationship Type="http://schemas.openxmlformats.org/officeDocument/2006/relationships/slide" Target="/ppt/slides/slide7.xml" Id="R43d65f0cc1ce4018" /><Relationship Type="http://schemas.openxmlformats.org/officeDocument/2006/relationships/slide" Target="/ppt/slides/slide8.xml" Id="R38963d4903e24e3a" /><Relationship Type="http://schemas.openxmlformats.org/officeDocument/2006/relationships/slide" Target="/ppt/slides/slide9.xml" Id="R05680cd9b25f47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8736fe58141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6d5abcc524dba" /><Relationship Type="http://schemas.openxmlformats.org/officeDocument/2006/relationships/notesMaster" Target="/ppt/notesMasters/notesMaster1.xml" Id="Ra5a7de5cb70c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dab0afcd084bd3" /><Relationship Type="http://schemas.openxmlformats.org/officeDocument/2006/relationships/notesMaster" Target="/ppt/notesMasters/notesMaster1.xml" Id="Rf7dab5201b344e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737ada168f445c" /><Relationship Type="http://schemas.openxmlformats.org/officeDocument/2006/relationships/notesMaster" Target="/ppt/notesMasters/notesMaster1.xml" Id="R2967068b512540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83eafc554a4ade" /><Relationship Type="http://schemas.openxmlformats.org/officeDocument/2006/relationships/notesMaster" Target="/ppt/notesMasters/notesMaster1.xml" Id="R55213d806ec743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5a70aa7edf4d05" /><Relationship Type="http://schemas.openxmlformats.org/officeDocument/2006/relationships/notesMaster" Target="/ppt/notesMasters/notesMaster1.xml" Id="R0c9076eed1bc46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02d88c04b14da8" /><Relationship Type="http://schemas.openxmlformats.org/officeDocument/2006/relationships/notesMaster" Target="/ppt/notesMasters/notesMaster1.xml" Id="R961cc5c94ee44e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308218a4345e6" /><Relationship Type="http://schemas.openxmlformats.org/officeDocument/2006/relationships/notesMaster" Target="/ppt/notesMasters/notesMaster1.xml" Id="R97f1fa2d9cf7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b4b8834e1849a4" /><Relationship Type="http://schemas.openxmlformats.org/officeDocument/2006/relationships/notesMaster" Target="/ppt/notesMasters/notesMaster1.xml" Id="R6aa8d2356ecd47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b46bfec1904bce" /><Relationship Type="http://schemas.openxmlformats.org/officeDocument/2006/relationships/notesMaster" Target="/ppt/notesMasters/notesMaster1.xml" Id="Rfb0782eccf1a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0635e74b449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29fc942d2244de" /><Relationship Type="http://schemas.openxmlformats.org/officeDocument/2006/relationships/slideLayout" Target="/ppt/slideLayouts/slideLayout1.xml" Id="Rbed27cc70fae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27cc70fae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2419e33cf4e39" /><Relationship Type="http://schemas.openxmlformats.org/officeDocument/2006/relationships/notesSlide" Target="/ppt/notesSlides/notesSlide1.xml" Id="R3a58bebeba34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710d8f6bf4d0a" /><Relationship Type="http://schemas.openxmlformats.org/officeDocument/2006/relationships/image" Target="/ppt/media/image.jpeg" Id="R8fa2c222d2c64f73" /><Relationship Type="http://schemas.openxmlformats.org/officeDocument/2006/relationships/notesSlide" Target="/ppt/notesSlides/notesSlide2.xml" Id="R363b66ffc2c542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b3189f4fd4505" /><Relationship Type="http://schemas.openxmlformats.org/officeDocument/2006/relationships/notesSlide" Target="/ppt/notesSlides/notesSlide3.xml" Id="R8e64f007bf84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0fa79cda54b29" /><Relationship Type="http://schemas.openxmlformats.org/officeDocument/2006/relationships/image" Target="/ppt/media/image.png" Id="R91fae758f18548fc" /><Relationship Type="http://schemas.openxmlformats.org/officeDocument/2006/relationships/notesSlide" Target="/ppt/notesSlides/notesSlide4.xml" Id="Rde08b6417267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8d88b45f846c0" /><Relationship Type="http://schemas.openxmlformats.org/officeDocument/2006/relationships/image" Target="/ppt/media/image2.jpeg" Id="R4c404ad2e90942d2" /><Relationship Type="http://schemas.openxmlformats.org/officeDocument/2006/relationships/image" Target="/ppt/media/image3.jpeg" Id="Rfb5e3ba4ab334692" /><Relationship Type="http://schemas.openxmlformats.org/officeDocument/2006/relationships/notesSlide" Target="/ppt/notesSlides/notesSlide5.xml" Id="R9f20e9f80745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7f1dd0c93442d" /><Relationship Type="http://schemas.openxmlformats.org/officeDocument/2006/relationships/image" Target="/ppt/media/image2.png" Id="Re89e408e4b464ab7" /><Relationship Type="http://schemas.openxmlformats.org/officeDocument/2006/relationships/image" Target="/ppt/media/image3.png" Id="R8a359111c91d4ddd" /><Relationship Type="http://schemas.openxmlformats.org/officeDocument/2006/relationships/notesSlide" Target="/ppt/notesSlides/notesSlide6.xml" Id="R07d2fe02645f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44580e33b4559" /><Relationship Type="http://schemas.openxmlformats.org/officeDocument/2006/relationships/image" Target="/ppt/media/image4.png" Id="Re625d212dd0a46d3" /><Relationship Type="http://schemas.openxmlformats.org/officeDocument/2006/relationships/notesSlide" Target="/ppt/notesSlides/notesSlide7.xml" Id="R981b1f076cd343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e45c6cf594ee6" /><Relationship Type="http://schemas.openxmlformats.org/officeDocument/2006/relationships/notesSlide" Target="/ppt/notesSlides/notesSlide8.xml" Id="Rd837c4be34694f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ff861957d4aae" /><Relationship Type="http://schemas.openxmlformats.org/officeDocument/2006/relationships/notesSlide" Target="/ppt/notesSlides/notesSlide9.xml" Id="R718d97b0061545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F52EC-E984-430C-B590-8B31148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5C9BB3F-A91F-4E29-BE45-A78CD2ED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PRESENTASI TUGAS AKHIR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E38C87-6939-4E01-B140-70C2E3F0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Pengembangan Dashboard Web, Integrasi Unity WebGL, dan Deployment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FD81545-534E-41A1-9885-63D8F1AD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56274"/>
                </a:solidFill>
                <a:latin typeface="Arial"/>
                <a:ea typeface="Arial"/>
                <a:cs typeface="Arial"/>
              </a:rPr>
              <a:t>Sistem Denah Virtual UPNVJ Kampus Pondok Labu</a:t>
            </a:r>
          </a:p>
        </p:txBody>
      </p:sp>
      <p:sp>
        <p:nvSpPr>
          <p:cNvPr id="5" name="title-panel">
            <a:extLst xmlns:a="http://schemas.openxmlformats.org/drawingml/2006/main">
              <a:ext uri="{FF2B5EF4-FFF2-40B4-BE49-F238E27FC236}">
                <a16:creationId xmlns:a16="http://schemas.microsoft.com/office/drawing/2014/main" id="{2569B331-2B2F-4997-8ABF-6F76237C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333750" cy="4095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3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A10D0-103E-428F-B168-E47FA3B9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son">
            <a:extLst xmlns:a="http://schemas.openxmlformats.org/drawingml/2006/main">
              <a:ext uri="{FF2B5EF4-FFF2-40B4-BE49-F238E27FC236}">
                <a16:creationId xmlns:a16="http://schemas.microsoft.com/office/drawing/2014/main" id="{664F4564-22AB-436A-83C0-EAB0332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288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Muhammad Iman Nugraha</a:t>
            </a:r>
          </a:p>
        </p:txBody>
      </p:sp>
      <p:sp>
        <p:nvSpPr>
          <p:cNvPr id="8" name="nim">
            <a:extLst xmlns:a="http://schemas.openxmlformats.org/drawingml/2006/main">
              <a:ext uri="{FF2B5EF4-FFF2-40B4-BE49-F238E27FC236}">
                <a16:creationId xmlns:a16="http://schemas.microsoft.com/office/drawing/2014/main" id="{312EC503-99DD-4F8F-91BB-2061C2D5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9E8F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E8FA"/>
                </a:solidFill>
                <a:latin typeface="Arial"/>
                <a:ea typeface="Arial"/>
                <a:cs typeface="Arial"/>
              </a:rPr>
              <a:t>NIM 2210511129 · Informatika</a:t>
            </a:r>
          </a:p>
        </p:txBody>
      </p:sp>
      <p:sp>
        <p:nvSpPr>
          <p:cNvPr id="9" name="role">
            <a:extLst xmlns:a="http://schemas.openxmlformats.org/drawingml/2006/main">
              <a:ext uri="{FF2B5EF4-FFF2-40B4-BE49-F238E27FC236}">
                <a16:creationId xmlns:a16="http://schemas.microsoft.com/office/drawing/2014/main" id="{D2EF650C-95BD-4907-8597-70DFC798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671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9E8F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9E8FA"/>
                </a:solidFill>
                <a:latin typeface="Arial"/>
                <a:ea typeface="Arial"/>
                <a:cs typeface="Arial"/>
              </a:rPr>
              <a:t>Full Stack Web Developer · System Integrator · DevOps Engineer</a:t>
            </a:r>
          </a:p>
        </p:txBody>
      </p:sp>
      <p:sp>
        <p:nvSpPr>
          <p:cNvPr id="10" name="project">
            <a:extLst xmlns:a="http://schemas.openxmlformats.org/drawingml/2006/main">
              <a:ext uri="{FF2B5EF4-FFF2-40B4-BE49-F238E27FC236}">
                <a16:creationId xmlns:a16="http://schemas.microsoft.com/office/drawing/2014/main" id="{FB90BDD1-DA52-4AEE-AB08-DA69E7ED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6274"/>
                </a:solidFill>
                <a:latin typeface="Arial"/>
                <a:ea typeface="Arial"/>
                <a:cs typeface="Arial"/>
              </a:rPr>
              <a:t>Proyek Denah Virtual UPNVJ Kampus Pondok Labu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E343653-7A5D-4047-95D8-D466CDEC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12" name="year-footer">
            <a:extLst xmlns:a="http://schemas.openxmlformats.org/drawingml/2006/main">
              <a:ext uri="{FF2B5EF4-FFF2-40B4-BE49-F238E27FC236}">
                <a16:creationId xmlns:a16="http://schemas.microsoft.com/office/drawing/2014/main" id="{FF7AD52B-C203-44D1-BBF1-2C8D95E7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</p:spTree>
    <p:extLst>
      <p:ext uri="{BB962C8B-B14F-4D97-AF65-F5344CB8AC3E}">
        <p14:creationId xmlns:p14="http://schemas.microsoft.com/office/powerpoint/2010/main" val="1937832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0C52B268-BFC0-453F-B146-911A483C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KONTEKS MASALAH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91528A-BECB-4D61-BF30-5909DAC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Masalah yang diselesaikan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2A85B-AC01-421A-B533-5127669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768F8B5-3FEA-48CD-B71D-6310CA0B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A9478F4D-7FAC-4C9C-854A-06107C8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F944E891-AB4C-4BB0-B981-70CE4429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Proyek membutuhkan jalur web yang mudah diakses untuk mencari fasilitas, mengelola data, dan membuka visualisasi Unity WebGL dari satu pengalaman pengguna.</a:t>
            </a:r>
          </a:p>
        </p:txBody>
      </p:sp>
      <p:sp>
        <p:nvSpPr>
          <p:cNvPr id="7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02A8D4CA-E1C2-4CBF-8948-32CCEAA8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41F1EA99-9535-446A-A953-9950D3ED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Dashboard publik untuk pencarian dan eksplorasi.</a:t>
            </a:r>
          </a:p>
        </p:txBody>
      </p:sp>
      <p:sp>
        <p:nvSpPr>
          <p:cNvPr id="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03676241-75BB-4FA8-97A9-8D49C98C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E2BA0570-2E8E-4102-98A3-D2BF6C2E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Panel Admin untuk autentikasi dan CRUD data.</a:t>
            </a:r>
          </a:p>
        </p:txBody>
      </p:sp>
      <p:sp>
        <p:nvSpPr>
          <p:cNvPr id="1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D94BB8E-2E73-4222-BE9D-6829B02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D568AD2E-CF42-4062-9140-DA2067DD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API sebagai jalur pertukaran data dashboard–Unity.</a:t>
            </a:r>
          </a:p>
        </p:txBody>
      </p:sp>
      <p:sp>
        <p:nvSpPr>
          <p:cNvPr id="13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21974A9A-133D-4789-B0E5-8E9AF70E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BABC2196-13AF-45C0-A993-3B706DE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558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Deployment agar layanan dapat diakses melalui browser.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2c222d2c64f73"/>
          <a:stretch xmlns:a="http://schemas.openxmlformats.org/drawingml/2006/main"/>
        </p:blipFill>
        <p:spPr>
          <a:xfrm xmlns:a="http://schemas.openxmlformats.org/drawingml/2006/main">
            <a:off x="7239000" y="2204289"/>
            <a:ext cx="3810000" cy="2144623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</p:spTree>
    <p:extLst>
      <p:ext uri="{BB962C8B-B14F-4D97-AF65-F5344CB8AC3E}">
        <p14:creationId xmlns:p14="http://schemas.microsoft.com/office/powerpoint/2010/main" val="231903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C781E0F2-B026-4937-A05E-7897B23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RUANG LINGKUP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CF142D-12F9-4DDF-8CB1-26B1F18F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Batas kontribusi Iman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7725E-AC44-412E-8B31-57A38E7E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972E0E0-0F59-4E7C-8B5E-0C65B006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296D6309-2A5F-460E-BD07-44062BB4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57FDF-936E-4774-98CA-56804E14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0482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title">
            <a:extLst xmlns:a="http://schemas.openxmlformats.org/drawingml/2006/main">
              <a:ext uri="{FF2B5EF4-FFF2-40B4-BE49-F238E27FC236}">
                <a16:creationId xmlns:a16="http://schemas.microsoft.com/office/drawing/2014/main" id="{C03E69EA-0954-4B22-A01B-8743B347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Fokus kontribusi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7902F47C-ACC7-40B1-87AE-5B833160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5DE536F0-FEB0-4AA1-B89A-41F94792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Dashboard Publik dan Panel Admin.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30B61AD-EB22-4D3E-ABA2-EA674258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0A64F0E6-4699-40BA-BE24-D7384E8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0375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REST API pada Vercel Serverless Functions.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CEAF8009-8142-45B7-A43F-209C042E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BF78A497-5124-49B4-A423-CE8741D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Supabase Auth, CRUD, dan integrasi data.</a:t>
            </a:r>
          </a:p>
        </p:txBody>
      </p:sp>
      <p:sp>
        <p:nvSpPr>
          <p:cNvPr id="1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0759BC3-5BBC-4D8F-8384-5DE60739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0BD4C95F-494B-4EDB-93AA-0CB71586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Bridge React–Unity dan analitik aplikasi.</a:t>
            </a:r>
          </a:p>
        </p:txBody>
      </p:sp>
      <p:sp>
        <p:nvSpPr>
          <p:cNvPr id="16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748A09DF-4E02-485E-8888-0061C519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71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4">
            <a:extLst xmlns:a="http://schemas.openxmlformats.org/drawingml/2006/main">
              <a:ext uri="{FF2B5EF4-FFF2-40B4-BE49-F238E27FC236}">
                <a16:creationId xmlns:a16="http://schemas.microsoft.com/office/drawing/2014/main" id="{02A68873-CABB-4F58-870D-092D9AD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3962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Deployment serta operasional layanan web.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7168A-CDE9-45E5-8510-A1BAEBE5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8577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collab-title">
            <a:extLst xmlns:a="http://schemas.openxmlformats.org/drawingml/2006/main">
              <a:ext uri="{FF2B5EF4-FFF2-40B4-BE49-F238E27FC236}">
                <a16:creationId xmlns:a16="http://schemas.microsoft.com/office/drawing/2014/main" id="{F71BFDA1-2D33-4472-9D2B-A5A907BA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Kolaborasi lintas peran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0AA66E63-BCC9-4F87-AF45-2F37E646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57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6055CC9A-73EC-4659-9239-CCFB75B7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Dwikhi: asset 3D, skema, ERD, dan data.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527C6251-0981-4532-9348-50B7EC03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52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D96DE52D-3936-4588-A108-B59E4D8A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Faiz: runtime Unity, navigasi, optimasi, dan DatabaseSyncChecker.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D2CA7B4-DDE7-42BF-AE71-588BC06F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48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BC9B7672-F536-47C8-A398-8639B515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Iman mengonsumsi hasil aset/data melalui jalur web dan integrasi.</a:t>
            </a:r>
          </a:p>
        </p:txBody>
      </p:sp>
    </p:spTree>
    <p:extLst>
      <p:ext uri="{BB962C8B-B14F-4D97-AF65-F5344CB8AC3E}">
        <p14:creationId xmlns:p14="http://schemas.microsoft.com/office/powerpoint/2010/main" val="448809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12A9250E-D5E9-45FF-A7A4-C02C4CEB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METODE DAN PROSES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119678-BFF6-4622-9555-EF89F02E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Arsitektur aliran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5D248-DA5B-4876-BE1D-1F47F10E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3C6662F-0005-46E5-811A-05560BB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9B71EDA8-D148-43B9-A838-66C30A30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ae758f18548fc"/>
          <a:stretch xmlns:a="http://schemas.openxmlformats.org/drawingml/2006/main"/>
        </p:blipFill>
        <p:spPr>
          <a:xfrm xmlns:a="http://schemas.openxmlformats.org/drawingml/2006/main">
            <a:off x="1102741" y="1676400"/>
            <a:ext cx="5357368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C6A01-B2FC-4608-9338-C0AED71F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3714750" cy="37909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pattern-title">
            <a:extLst xmlns:a="http://schemas.openxmlformats.org/drawingml/2006/main">
              <a:ext uri="{FF2B5EF4-FFF2-40B4-BE49-F238E27FC236}">
                <a16:creationId xmlns:a16="http://schemas.microsoft.com/office/drawing/2014/main" id="{DE3A8969-4A16-4C6A-8207-BB2186AA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Pola integrasi</a:t>
            </a:r>
          </a:p>
        </p:txBody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2E132B99-AEC4-43DF-AE28-7965F23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0">
            <a:extLst xmlns:a="http://schemas.openxmlformats.org/drawingml/2006/main">
              <a:ext uri="{FF2B5EF4-FFF2-40B4-BE49-F238E27FC236}">
                <a16:creationId xmlns:a16="http://schemas.microsoft.com/office/drawing/2014/main" id="{615E32AF-170C-4F53-BEEF-916127FC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2724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Pengguna berinteraksi melalui Dashboard Publik atau Panel Admin.</a:t>
            </a:r>
          </a:p>
        </p:txBody>
      </p:sp>
      <p:sp>
        <p:nvSpPr>
          <p:cNvPr id="1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07221997-C8BA-4F8B-8D31-FEFFD9BA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90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8744391B-D512-4603-9EF9-FD2A69E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724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API meneruskan permintaan data sesuai kebutuhan.</a:t>
            </a:r>
          </a:p>
        </p:txBody>
      </p:sp>
      <p:sp>
        <p:nvSpPr>
          <p:cNvPr id="1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007DDE90-5161-42E7-A9F2-26988C13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A5F02EAF-6F92-4409-832B-B6CF71D4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2724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Unity WebGL menerima data untuk visualisasi denah.</a:t>
            </a:r>
          </a:p>
        </p:txBody>
      </p:sp>
      <p:sp>
        <p:nvSpPr>
          <p:cNvPr id="1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179544F0-A91A-4AD1-A1FB-C8569EEE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92F7E2DF-ED70-4639-93BC-B8621B0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2724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Identifier lokasi menjaga pemetaan tetap konsisten.</a:t>
            </a:r>
          </a:p>
        </p:txBody>
      </p:sp>
    </p:spTree>
    <p:extLst>
      <p:ext uri="{BB962C8B-B14F-4D97-AF65-F5344CB8AC3E}">
        <p14:creationId xmlns:p14="http://schemas.microsoft.com/office/powerpoint/2010/main" val="518472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B571FC9-9E14-4C19-A71C-16F2FA30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FRONTEND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3BEB7A-0749-4C78-82C1-FC25FF29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Antarmuka publik dan Panel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59B6B-B2E5-4BFB-AFF6-842E1610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CFBA609-8BDF-4370-96B8-C1EBC25A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0E968442-D8F8-4962-9EDF-C39DBFAA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04ad2e90942d2"/>
          <a:stretch xmlns:a="http://schemas.openxmlformats.org/drawingml/2006/main"/>
        </p:blipFill>
        <p:spPr>
          <a:xfrm xmlns:a="http://schemas.openxmlformats.org/drawingml/2006/main">
            <a:off x="685800" y="1964726"/>
            <a:ext cx="5067300" cy="2852348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e3ba4ab334692"/>
          <a:stretch xmlns:a="http://schemas.openxmlformats.org/drawingml/2006/main"/>
        </p:blipFill>
        <p:spPr>
          <a:xfrm xmlns:a="http://schemas.openxmlformats.org/drawingml/2006/main">
            <a:off x="6191250" y="2023703"/>
            <a:ext cx="4857750" cy="2734394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8" name="frontend-note">
            <a:extLst xmlns:a="http://schemas.openxmlformats.org/drawingml/2006/main">
              <a:ext uri="{FF2B5EF4-FFF2-40B4-BE49-F238E27FC236}">
                <a16:creationId xmlns:a16="http://schemas.microsoft.com/office/drawing/2014/main" id="{1C34BB3D-1372-4B96-8A5A-15BD957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6274"/>
                </a:solidFill>
                <a:latin typeface="Arial"/>
                <a:ea typeface="Arial"/>
                <a:cs typeface="Arial"/>
              </a:rPr>
              <a:t>Dua permukaan antarmuka membagi kebutuhan pengguna publik dan pengelola data. Dashboard memfasilitasi pencarian dan eksplorasi; Panel Admin mengelola record melalui autentikasi dan CRUD.</a:t>
            </a:r>
          </a:p>
        </p:txBody>
      </p:sp>
    </p:spTree>
    <p:extLst>
      <p:ext uri="{BB962C8B-B14F-4D97-AF65-F5344CB8AC3E}">
        <p14:creationId xmlns:p14="http://schemas.microsoft.com/office/powerpoint/2010/main" val="1784356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AF2586C9-F7C2-4DCD-B5AD-66FF80FE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BACKEND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71F699-77C6-4EEC-8E79-5CAF9314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API dan integrasi Unity WebGL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9EA7E-1FF4-4827-88A8-A91DB88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76661E5-FB10-4409-8CFC-BE416271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F15A2367-CAF0-49F7-8067-AC378D71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e408e4b464ab7"/>
          <a:stretch xmlns:a="http://schemas.openxmlformats.org/drawingml/2006/main"/>
        </p:blipFill>
        <p:spPr>
          <a:xfrm xmlns:a="http://schemas.openxmlformats.org/drawingml/2006/main">
            <a:off x="1102117" y="1714500"/>
            <a:ext cx="4120365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59111c91d4ddd"/>
          <a:stretch xmlns:a="http://schemas.openxmlformats.org/drawingml/2006/main"/>
        </p:blipFill>
        <p:spPr>
          <a:xfrm xmlns:a="http://schemas.openxmlformats.org/drawingml/2006/main">
            <a:off x="6191250" y="1742072"/>
            <a:ext cx="4857750" cy="3278605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api-note">
            <a:extLst xmlns:a="http://schemas.openxmlformats.org/drawingml/2006/main">
              <a:ext uri="{FF2B5EF4-FFF2-40B4-BE49-F238E27FC236}">
                <a16:creationId xmlns:a16="http://schemas.microsoft.com/office/drawing/2014/main" id="{1530937C-DB5A-4DF5-BB4E-EC407909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6274"/>
                </a:solidFill>
                <a:latin typeface="Arial"/>
                <a:ea typeface="Arial"/>
                <a:cs typeface="Arial"/>
              </a:rPr>
              <a:t>Endpoint /api/unity/data dan /api/unity/names menjadi contoh jalur yang menyediakan data untuk kebutuhan visualisasi serta pemetaan nama objek.</a:t>
            </a:r>
          </a:p>
        </p:txBody>
      </p:sp>
    </p:spTree>
    <p:extLst>
      <p:ext uri="{BB962C8B-B14F-4D97-AF65-F5344CB8AC3E}">
        <p14:creationId xmlns:p14="http://schemas.microsoft.com/office/powerpoint/2010/main" val="1245587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90E05061-484C-431B-B141-90BFFE7F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DEPLOYMENT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6EF373-E390-4644-A25B-5C5BDA79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Deployment dan kesiapan operasional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3E75F-B372-48F2-B5DC-23241573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D58E0-F94A-4D85-AE24-A29B4DDE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C03BE62D-CCA1-48B1-ADEF-83244FE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5d212dd0a46d3"/>
          <a:stretch xmlns:a="http://schemas.openxmlformats.org/drawingml/2006/main"/>
        </p:blipFill>
        <p:spPr>
          <a:xfrm xmlns:a="http://schemas.openxmlformats.org/drawingml/2006/main">
            <a:off x="685800" y="2260637"/>
            <a:ext cx="4953000" cy="2241475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911B-DE46-4E35-8E6B-E9E26972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857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s-title">
            <a:extLst xmlns:a="http://schemas.openxmlformats.org/drawingml/2006/main">
              <a:ext uri="{FF2B5EF4-FFF2-40B4-BE49-F238E27FC236}">
                <a16:creationId xmlns:a16="http://schemas.microsoft.com/office/drawing/2014/main" id="{548B4266-419D-47B3-9432-EC67B1AF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Artefak operasional</a:t>
            </a:r>
          </a:p>
        </p:txBody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3A7BE74-0A4F-4D76-83FA-A25694D8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0">
            <a:extLst xmlns:a="http://schemas.openxmlformats.org/drawingml/2006/main">
              <a:ext uri="{FF2B5EF4-FFF2-40B4-BE49-F238E27FC236}">
                <a16:creationId xmlns:a16="http://schemas.microsoft.com/office/drawing/2014/main" id="{BE649C0D-9281-4ED3-9373-667F8EF3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1937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Konfigurasi environment variables.</a:t>
            </a:r>
          </a:p>
        </p:txBody>
      </p:sp>
      <p:sp>
        <p:nvSpPr>
          <p:cNvPr id="1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03F90C7E-C78D-48E1-9443-2406FC21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066B97C7-F9D9-4EDF-ADBC-4CBF35D5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7657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Hosting Vercel dan jalur Serverless Functions.</a:t>
            </a:r>
          </a:p>
        </p:txBody>
      </p:sp>
      <p:sp>
        <p:nvSpPr>
          <p:cNvPr id="1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EC211364-D268-4631-8990-4D9868CA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19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2AA45666-BF3E-44EF-A5BC-D336E7D2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3377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Aset WebGL diakses melalui aplikasi web.</a:t>
            </a:r>
          </a:p>
        </p:txBody>
      </p:sp>
      <p:sp>
        <p:nvSpPr>
          <p:cNvPr id="1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092AD6D-9E15-475F-9F96-782C96D1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85DC216E-CA1C-4D33-971A-A446432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90975"/>
            <a:ext cx="3676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Analitik dan helper operasional disiapkan sebagai pendukung.</a:t>
            </a:r>
          </a:p>
        </p:txBody>
      </p:sp>
    </p:spTree>
    <p:extLst>
      <p:ext uri="{BB962C8B-B14F-4D97-AF65-F5344CB8AC3E}">
        <p14:creationId xmlns:p14="http://schemas.microsoft.com/office/powerpoint/2010/main" val="19931946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F1CAFFD2-F72B-4AF9-B9EF-54A6FD86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37B25B-5C36-4383-A12F-8564473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Hasil pengujian bersama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BF836-3AC7-4112-8E2A-E97AA08E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E7BA0B-92F5-4F50-9C78-80315295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A906EDEB-1DE1-47C4-8A13-4E1BA431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metric-Black Box final">
            <a:extLst xmlns:a="http://schemas.openxmlformats.org/drawingml/2006/main">
              <a:ext uri="{FF2B5EF4-FFF2-40B4-BE49-F238E27FC236}">
                <a16:creationId xmlns:a16="http://schemas.microsoft.com/office/drawing/2014/main" id="{13B0681E-A361-401D-8C7D-8095FC9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286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metric-value-Black Box final">
            <a:extLst xmlns:a="http://schemas.openxmlformats.org/drawingml/2006/main">
              <a:ext uri="{FF2B5EF4-FFF2-40B4-BE49-F238E27FC236}">
                <a16:creationId xmlns:a16="http://schemas.microsoft.com/office/drawing/2014/main" id="{6EE30053-5DDE-42C4-88FA-8765CD2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8" name="metric-label-Black Box final">
            <a:extLst xmlns:a="http://schemas.openxmlformats.org/drawingml/2006/main">
              <a:ext uri="{FF2B5EF4-FFF2-40B4-BE49-F238E27FC236}">
                <a16:creationId xmlns:a16="http://schemas.microsoft.com/office/drawing/2014/main" id="{B9871E9A-4650-4712-8999-903BB2C9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Black Box final</a:t>
            </a:r>
          </a:p>
        </p:txBody>
      </p:sp>
      <p:sp>
        <p:nvSpPr>
          <p:cNvPr id="9" name="metric-UAT Dashboard Publik">
            <a:extLst xmlns:a="http://schemas.openxmlformats.org/drawingml/2006/main">
              <a:ext uri="{FF2B5EF4-FFF2-40B4-BE49-F238E27FC236}">
                <a16:creationId xmlns:a16="http://schemas.microsoft.com/office/drawing/2014/main" id="{65834B5B-A679-4D24-85F1-B5EFB911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286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metric-value-UAT Dashboard Publik">
            <a:extLst xmlns:a="http://schemas.openxmlformats.org/drawingml/2006/main">
              <a:ext uri="{FF2B5EF4-FFF2-40B4-BE49-F238E27FC236}">
                <a16:creationId xmlns:a16="http://schemas.microsoft.com/office/drawing/2014/main" id="{2536A441-AD34-4202-878A-2A0665B4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81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77,78%</a:t>
            </a:r>
          </a:p>
        </p:txBody>
      </p:sp>
      <p:sp>
        <p:nvSpPr>
          <p:cNvPr id="11" name="metric-label-UAT Dashboard Publik">
            <a:extLst xmlns:a="http://schemas.openxmlformats.org/drawingml/2006/main">
              <a:ext uri="{FF2B5EF4-FFF2-40B4-BE49-F238E27FC236}">
                <a16:creationId xmlns:a16="http://schemas.microsoft.com/office/drawing/2014/main" id="{CD05EA13-D109-4028-974D-C2C1EE64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UAT Dashboard Publik</a:t>
            </a:r>
          </a:p>
        </p:txBody>
      </p:sp>
      <p:sp>
        <p:nvSpPr>
          <p:cNvPr id="12" name="metric-UAT Dashboard Admin">
            <a:extLst xmlns:a="http://schemas.openxmlformats.org/drawingml/2006/main">
              <a:ext uri="{FF2B5EF4-FFF2-40B4-BE49-F238E27FC236}">
                <a16:creationId xmlns:a16="http://schemas.microsoft.com/office/drawing/2014/main" id="{92AF5A6A-CC84-4AEF-8B41-07DEEFAB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09750"/>
            <a:ext cx="2286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metric-value-UAT Dashboard Admin">
            <a:extLst xmlns:a="http://schemas.openxmlformats.org/drawingml/2006/main">
              <a:ext uri="{FF2B5EF4-FFF2-40B4-BE49-F238E27FC236}">
                <a16:creationId xmlns:a16="http://schemas.microsoft.com/office/drawing/2014/main" id="{9A55640D-751C-4E3E-95DF-ABD9651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81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990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902F"/>
                </a:solidFill>
                <a:latin typeface="Arial"/>
                <a:ea typeface="Arial"/>
                <a:cs typeface="Arial"/>
              </a:rPr>
              <a:t>84,55%</a:t>
            </a:r>
          </a:p>
        </p:txBody>
      </p:sp>
      <p:sp>
        <p:nvSpPr>
          <p:cNvPr id="14" name="metric-label-UAT Dashboard Admin">
            <a:extLst xmlns:a="http://schemas.openxmlformats.org/drawingml/2006/main">
              <a:ext uri="{FF2B5EF4-FFF2-40B4-BE49-F238E27FC236}">
                <a16:creationId xmlns:a16="http://schemas.microsoft.com/office/drawing/2014/main" id="{4584A036-1AB8-492C-933C-D93B6F41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UAT Dashboard Admin</a:t>
            </a:r>
          </a:p>
        </p:txBody>
      </p:sp>
      <p:sp>
        <p:nvSpPr>
          <p:cNvPr id="15" name="metric-skor gabungan">
            <a:extLst xmlns:a="http://schemas.openxmlformats.org/drawingml/2006/main">
              <a:ext uri="{FF2B5EF4-FFF2-40B4-BE49-F238E27FC236}">
                <a16:creationId xmlns:a16="http://schemas.microsoft.com/office/drawing/2014/main" id="{8194E237-8850-4CFC-8C20-747516F6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09750"/>
            <a:ext cx="2286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6" name="metric-value-skor gabungan">
            <a:extLst xmlns:a="http://schemas.openxmlformats.org/drawingml/2006/main">
              <a:ext uri="{FF2B5EF4-FFF2-40B4-BE49-F238E27FC236}">
                <a16:creationId xmlns:a16="http://schemas.microsoft.com/office/drawing/2014/main" id="{01BDC9B2-6D44-4226-8780-4D4217CE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81,50%</a:t>
            </a:r>
          </a:p>
        </p:txBody>
      </p:sp>
      <p:sp>
        <p:nvSpPr>
          <p:cNvPr id="17" name="metric-label-skor gabungan">
            <a:extLst xmlns:a="http://schemas.openxmlformats.org/drawingml/2006/main">
              <a:ext uri="{FF2B5EF4-FFF2-40B4-BE49-F238E27FC236}">
                <a16:creationId xmlns:a16="http://schemas.microsoft.com/office/drawing/2014/main" id="{BB33A121-5583-41FB-B6EC-DFCA71C6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skor gabungan</a:t>
            </a:r>
          </a:p>
        </p:txBody>
      </p:sp>
      <p:sp>
        <p:nvSpPr>
          <p:cNvPr id="18" name="testing-note">
            <a:extLst xmlns:a="http://schemas.openxmlformats.org/drawingml/2006/main">
              <a:ext uri="{FF2B5EF4-FFF2-40B4-BE49-F238E27FC236}">
                <a16:creationId xmlns:a16="http://schemas.microsoft.com/office/drawing/2014/main" id="{CBE45E6E-6E60-48A8-9296-1498EFC4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11827"/>
                </a:solidFill>
                <a:latin typeface="Arial"/>
                <a:ea typeface="Arial"/>
                <a:cs typeface="Arial"/>
              </a:rPr>
              <a:t>Lima peserta unik memberikan dasar umpan balik untuk revisi antarmuka, navigasi, mode visualisasi, dan penyelesaian alur. Deck ini mempertahankan angka dari hasil pengujian branch Iman.</a:t>
            </a:r>
          </a:p>
        </p:txBody>
      </p:sp>
      <p:sp>
        <p:nvSpPr>
          <p:cNvPr id="19" name="testing-role">
            <a:extLst xmlns:a="http://schemas.openxmlformats.org/drawingml/2006/main">
              <a:ext uri="{FF2B5EF4-FFF2-40B4-BE49-F238E27FC236}">
                <a16:creationId xmlns:a16="http://schemas.microsoft.com/office/drawing/2014/main" id="{A43F4699-0E27-44F0-A788-6557D71B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56274"/>
                </a:solidFill>
                <a:latin typeface="Arial"/>
                <a:ea typeface="Arial"/>
                <a:cs typeface="Arial"/>
              </a:rPr>
              <a:t>Peran Iman pada hasil bersama: mengimplementasikan dan menindaklanjuti temuan pada web, integrasi, dan deployment.</a:t>
            </a:r>
          </a:p>
        </p:txBody>
      </p:sp>
    </p:spTree>
    <p:extLst>
      <p:ext uri="{BB962C8B-B14F-4D97-AF65-F5344CB8AC3E}">
        <p14:creationId xmlns:p14="http://schemas.microsoft.com/office/powerpoint/2010/main" val="1747941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D69FDB98-9E61-452D-8265-1ACEE032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PENUTUP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E7F075-AB67-4B11-A3BE-1A95BE9C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Kontribusi dan langkah berikutnya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17DC0-97E6-4FC1-82A4-C69C9E7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181D472-63A6-45D1-8D49-0D5EAE9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Tugas_Akhir.docx + Tugas_Akhir_Draft.md (origin/laporan/iman)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0C0BFC01-B9E9-4204-AC7D-58D7E94C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87DED-3E7D-44FA-B0B8-785E2DD9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953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ne-title">
            <a:extLst xmlns:a="http://schemas.openxmlformats.org/drawingml/2006/main">
              <a:ext uri="{FF2B5EF4-FFF2-40B4-BE49-F238E27FC236}">
                <a16:creationId xmlns:a16="http://schemas.microsoft.com/office/drawing/2014/main" id="{762876FF-880A-4872-80AB-623E968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Kontribusi utama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547EB8A5-E4F3-4B58-822D-001E6BD5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04A23BEA-1128-4A6A-8648-B2CBC062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Web publik dan Panel Admin.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5D9093B-3193-4896-9472-92A5EBAC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52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64718E73-510B-431F-A6C6-DB8401CA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API serta integrasi React–Unity.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EFE9382-7F03-4909-8B2D-2ACA9736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207DFE96-30E2-473A-A60D-5524498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Autentikasi, CRUD, dan analitik.</a:t>
            </a:r>
          </a:p>
        </p:txBody>
      </p:sp>
      <p:sp>
        <p:nvSpPr>
          <p:cNvPr id="1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B8544EE0-0224-4DC1-B8AA-5DF302C5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E9C015FA-8A77-40BB-AD47-C6AD0E78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Deployment dan operasional web.</a:t>
            </a:r>
          </a:p>
        </p:txBody>
      </p:sp>
      <p:sp>
        <p:nvSpPr>
          <p:cNvPr id="16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929A0644-8388-4CED-8127-5769095B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4">
            <a:extLst xmlns:a="http://schemas.openxmlformats.org/drawingml/2006/main">
              <a:ext uri="{FF2B5EF4-FFF2-40B4-BE49-F238E27FC236}">
                <a16:creationId xmlns:a16="http://schemas.microsoft.com/office/drawing/2014/main" id="{E7497A16-6202-4C34-B2D3-4826CA6B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Retest berbasis UAT bersama.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946EF-0F55-4F71-9F30-F9D86DF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857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next-title">
            <a:extLst xmlns:a="http://schemas.openxmlformats.org/drawingml/2006/main">
              <a:ext uri="{FF2B5EF4-FFF2-40B4-BE49-F238E27FC236}">
                <a16:creationId xmlns:a16="http://schemas.microsoft.com/office/drawing/2014/main" id="{800DBC03-77B7-4D21-A2AB-ECC0A70D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90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902F"/>
                </a:solidFill>
                <a:latin typeface="Arial"/>
                <a:ea typeface="Arial"/>
                <a:cs typeface="Arial"/>
              </a:rPr>
              <a:t>Tindak lanjut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6E448FF3-60BE-4BD8-A831-A4D0226B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31A3D398-81FB-410C-B1F5-C3FB91DE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Menjaga kontrak pertukaran data tetap konsisten.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B80F691-9025-4D23-8429-464CD1E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DD581514-6D95-484B-8B93-9CA7D080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Memantau perubahan struktur dan data lokasi.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E8AC385-76CD-40E9-B461-F56141AB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24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2D1F101C-388A-49D9-AC51-FCD5B001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Menyelaraskan bukti integrasi dengan aset dan runtime.</a:t>
            </a:r>
          </a:p>
        </p:txBody>
      </p:sp>
      <p:sp>
        <p:nvSpPr>
          <p:cNvPr id="26" name="thanks">
            <a:extLst xmlns:a="http://schemas.openxmlformats.org/drawingml/2006/main">
              <a:ext uri="{FF2B5EF4-FFF2-40B4-BE49-F238E27FC236}">
                <a16:creationId xmlns:a16="http://schemas.microsoft.com/office/drawing/2014/main" id="{90AB2FF3-8077-46F4-AE6A-8817DD8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79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2026-07-23T15:39:34.0710000Z</dcterms:created>
  <dcterms:modified xsi:type="dcterms:W3CDTF">2026-07-23T15:39:34.0710000Z</dcterms:modified>
</coreProperties>
</file>